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7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9" r:id="rId14"/>
    <p:sldId id="267" r:id="rId15"/>
    <p:sldId id="268" r:id="rId16"/>
    <p:sldId id="280" r:id="rId17"/>
    <p:sldId id="273" r:id="rId18"/>
    <p:sldId id="272" r:id="rId19"/>
    <p:sldId id="274" r:id="rId20"/>
    <p:sldId id="269" r:id="rId21"/>
    <p:sldId id="275" r:id="rId22"/>
    <p:sldId id="278" r:id="rId23"/>
    <p:sldId id="270" r:id="rId24"/>
  </p:sldIdLst>
  <p:sldSz cx="12192000" cy="6858000"/>
  <p:notesSz cx="6858000" cy="9144000"/>
  <p:embeddedFontLst>
    <p:embeddedFont>
      <p:font typeface="Arial Black" panose="020B0A04020102020204" pitchFamily="34" charset="0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iUyGnFs6UoFOjT96lEq3T5G8t+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F56F936-1EAE-4C9F-9BEE-47468C293F73}">
  <a:tblStyle styleId="{5F56F936-1EAE-4C9F-9BEE-47468C293F7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E094603A-1FBD-846F-82B5-314D93427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>
            <a:extLst>
              <a:ext uri="{FF2B5EF4-FFF2-40B4-BE49-F238E27FC236}">
                <a16:creationId xmlns:a16="http://schemas.microsoft.com/office/drawing/2014/main" id="{9F833CED-A80B-1A35-DC53-AAE5507055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" name="Google Shape;86;p1:notes">
            <a:extLst>
              <a:ext uri="{FF2B5EF4-FFF2-40B4-BE49-F238E27FC236}">
                <a16:creationId xmlns:a16="http://schemas.microsoft.com/office/drawing/2014/main" id="{428EE8AA-338B-D191-D66A-8A993AC3DD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786730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" name="Google Shape;13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1" name="Google Shape;16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8" name="Google Shape;16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5" name="Google Shape;22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709A08CC-8E40-A17B-AC4A-D14F65BF5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:notes">
            <a:extLst>
              <a:ext uri="{FF2B5EF4-FFF2-40B4-BE49-F238E27FC236}">
                <a16:creationId xmlns:a16="http://schemas.microsoft.com/office/drawing/2014/main" id="{AA119991-BD7C-CB91-440B-DC17FF5E11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7" name="Google Shape;257;p12:notes">
            <a:extLst>
              <a:ext uri="{FF2B5EF4-FFF2-40B4-BE49-F238E27FC236}">
                <a16:creationId xmlns:a16="http://schemas.microsoft.com/office/drawing/2014/main" id="{1BBAD700-F26B-2DED-A5D0-E59933484A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577782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7" name="Google Shape;25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8" name="Google Shape;29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>
          <a:extLst>
            <a:ext uri="{FF2B5EF4-FFF2-40B4-BE49-F238E27FC236}">
              <a16:creationId xmlns:a16="http://schemas.microsoft.com/office/drawing/2014/main" id="{A446B581-E9A9-B440-2397-779C2697B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3:notes">
            <a:extLst>
              <a:ext uri="{FF2B5EF4-FFF2-40B4-BE49-F238E27FC236}">
                <a16:creationId xmlns:a16="http://schemas.microsoft.com/office/drawing/2014/main" id="{B002CF3A-7D00-B517-F636-FF3D0DCD87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8" name="Google Shape;298;p13:notes">
            <a:extLst>
              <a:ext uri="{FF2B5EF4-FFF2-40B4-BE49-F238E27FC236}">
                <a16:creationId xmlns:a16="http://schemas.microsoft.com/office/drawing/2014/main" id="{16F10FD1-FDF5-36A3-890C-E2734B7C85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418309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3D2BAEF1-9B77-59FB-7403-89AD61C3F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>
            <a:extLst>
              <a:ext uri="{FF2B5EF4-FFF2-40B4-BE49-F238E27FC236}">
                <a16:creationId xmlns:a16="http://schemas.microsoft.com/office/drawing/2014/main" id="{66F95132-6540-FEDB-1CCC-83AC9ECA46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4" name="Google Shape;114;p4:notes">
            <a:extLst>
              <a:ext uri="{FF2B5EF4-FFF2-40B4-BE49-F238E27FC236}">
                <a16:creationId xmlns:a16="http://schemas.microsoft.com/office/drawing/2014/main" id="{E944DAA3-D2CD-C8AF-3AFB-7601F20B8A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882343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>
          <a:extLst>
            <a:ext uri="{FF2B5EF4-FFF2-40B4-BE49-F238E27FC236}">
              <a16:creationId xmlns:a16="http://schemas.microsoft.com/office/drawing/2014/main" id="{C02E32CC-EF10-6620-A840-78EF37C11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3:notes">
            <a:extLst>
              <a:ext uri="{FF2B5EF4-FFF2-40B4-BE49-F238E27FC236}">
                <a16:creationId xmlns:a16="http://schemas.microsoft.com/office/drawing/2014/main" id="{B46E3150-7291-79CD-09C8-09230F0D61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8" name="Google Shape;298;p13:notes">
            <a:extLst>
              <a:ext uri="{FF2B5EF4-FFF2-40B4-BE49-F238E27FC236}">
                <a16:creationId xmlns:a16="http://schemas.microsoft.com/office/drawing/2014/main" id="{A7228CD7-272C-512B-84A4-F03971792E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321452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>
          <a:extLst>
            <a:ext uri="{FF2B5EF4-FFF2-40B4-BE49-F238E27FC236}">
              <a16:creationId xmlns:a16="http://schemas.microsoft.com/office/drawing/2014/main" id="{C85284A2-244E-519D-D644-1F89A8B52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3:notes">
            <a:extLst>
              <a:ext uri="{FF2B5EF4-FFF2-40B4-BE49-F238E27FC236}">
                <a16:creationId xmlns:a16="http://schemas.microsoft.com/office/drawing/2014/main" id="{0B9299CE-3B45-A0ED-49B0-4CEB34E41F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8" name="Google Shape;298;p13:notes">
            <a:extLst>
              <a:ext uri="{FF2B5EF4-FFF2-40B4-BE49-F238E27FC236}">
                <a16:creationId xmlns:a16="http://schemas.microsoft.com/office/drawing/2014/main" id="{80294BAD-F89A-D457-F981-EE67FA70FA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183407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3" name="Google Shape;30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>
          <a:extLst>
            <a:ext uri="{FF2B5EF4-FFF2-40B4-BE49-F238E27FC236}">
              <a16:creationId xmlns:a16="http://schemas.microsoft.com/office/drawing/2014/main" id="{79FDB3D0-130F-BCBC-84C3-DD7728F03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4:notes">
            <a:extLst>
              <a:ext uri="{FF2B5EF4-FFF2-40B4-BE49-F238E27FC236}">
                <a16:creationId xmlns:a16="http://schemas.microsoft.com/office/drawing/2014/main" id="{13318619-D4CC-EED8-4D57-26EDFEDC16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3" name="Google Shape;303;p14:notes">
            <a:extLst>
              <a:ext uri="{FF2B5EF4-FFF2-40B4-BE49-F238E27FC236}">
                <a16:creationId xmlns:a16="http://schemas.microsoft.com/office/drawing/2014/main" id="{42F8417F-A9F3-D745-3B03-D4E1F26E03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921223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>
          <a:extLst>
            <a:ext uri="{FF2B5EF4-FFF2-40B4-BE49-F238E27FC236}">
              <a16:creationId xmlns:a16="http://schemas.microsoft.com/office/drawing/2014/main" id="{D5ECD6CF-3516-DBAB-EB68-86467DE41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4:notes">
            <a:extLst>
              <a:ext uri="{FF2B5EF4-FFF2-40B4-BE49-F238E27FC236}">
                <a16:creationId xmlns:a16="http://schemas.microsoft.com/office/drawing/2014/main" id="{C005FD89-B9C3-699C-ACBA-A33A8CBE71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3" name="Google Shape;303;p14:notes">
            <a:extLst>
              <a:ext uri="{FF2B5EF4-FFF2-40B4-BE49-F238E27FC236}">
                <a16:creationId xmlns:a16="http://schemas.microsoft.com/office/drawing/2014/main" id="{3031E3E3-9380-6070-64C2-28F9B4D62B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384413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0" name="Google Shape;32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" Target="slide4.xml"/><Relationship Id="rId7" Type="http://schemas.openxmlformats.org/officeDocument/2006/relationships/slide" Target="slide8.xml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7.png"/><Relationship Id="rId5" Type="http://schemas.openxmlformats.org/officeDocument/2006/relationships/slide" Target="slide6.xm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slide" Target="slide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slide" Target="slide14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jsshr.axshare.com/#id=1sxs4v&amp;p=welcome" TargetMode="External"/><Relationship Id="rId5" Type="http://schemas.openxmlformats.org/officeDocument/2006/relationships/image" Target="../media/image35.png"/><Relationship Id="rId4" Type="http://schemas.openxmlformats.org/officeDocument/2006/relationships/hyperlink" Target="https://fjsshr.axshare.com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truecareer-career-guidance-system-j2ayh9kkh4s2pjjeufejfw.streamlit.app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Baaotraan0407/truecareer-career-guidance-system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-2" y="0"/>
            <a:ext cx="6508376" cy="6858000"/>
          </a:xfrm>
          <a:prstGeom prst="rect">
            <a:avLst/>
          </a:prstGeom>
          <a:solidFill>
            <a:srgbClr val="FFC000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422459" y="1682088"/>
            <a:ext cx="6085915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altLang="zh-CN" sz="8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TrueCareer</a:t>
            </a:r>
            <a:endParaRPr sz="8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422459" y="3143184"/>
            <a:ext cx="5384783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2800"/>
            </a:pPr>
            <a:r>
              <a:rPr lang="en-US" sz="2800" dirty="0"/>
              <a:t>Assessment-Driven Career </a:t>
            </a:r>
          </a:p>
          <a:p>
            <a:pPr lvl="0">
              <a:buSzPts val="2800"/>
            </a:pPr>
            <a:r>
              <a:rPr lang="en-US" sz="2800" dirty="0"/>
              <a:t>Guidance System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30093" y="1914384"/>
            <a:ext cx="5246937" cy="4398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90755" y="545120"/>
            <a:ext cx="448627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0;p1">
            <a:extLst>
              <a:ext uri="{FF2B5EF4-FFF2-40B4-BE49-F238E27FC236}">
                <a16:creationId xmlns:a16="http://schemas.microsoft.com/office/drawing/2014/main" id="{BC2010E5-094D-9D60-5B4A-8758B45DF30C}"/>
              </a:ext>
            </a:extLst>
          </p:cNvPr>
          <p:cNvSpPr txBox="1"/>
          <p:nvPr/>
        </p:nvSpPr>
        <p:spPr>
          <a:xfrm>
            <a:off x="-914757" y="5958957"/>
            <a:ext cx="8337885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2800"/>
            </a:pPr>
            <a:r>
              <a:rPr lang="en-US" sz="2000" dirty="0"/>
              <a:t>Business Analysis, Data</a:t>
            </a:r>
            <a:r>
              <a:rPr lang="zh-CN" altLang="en-US" sz="2000" dirty="0"/>
              <a:t> </a:t>
            </a:r>
            <a:r>
              <a:rPr lang="en-US" sz="2000" dirty="0"/>
              <a:t>Driven Recommendation, </a:t>
            </a:r>
          </a:p>
          <a:p>
            <a:pPr lvl="0" algn="ctr">
              <a:buSzPts val="2800"/>
            </a:pPr>
            <a:r>
              <a:rPr lang="en-US" sz="2000" dirty="0"/>
              <a:t>and UI Prototype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>
          <a:extLst>
            <a:ext uri="{FF2B5EF4-FFF2-40B4-BE49-F238E27FC236}">
              <a16:creationId xmlns:a16="http://schemas.microsoft.com/office/drawing/2014/main" id="{BD68618A-1201-852F-E7ED-9D20DE949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4;p4">
            <a:extLst>
              <a:ext uri="{FF2B5EF4-FFF2-40B4-BE49-F238E27FC236}">
                <a16:creationId xmlns:a16="http://schemas.microsoft.com/office/drawing/2014/main" id="{F5346B52-84EC-C954-C4FE-58D41AAA32EB}"/>
              </a:ext>
            </a:extLst>
          </p:cNvPr>
          <p:cNvSpPr/>
          <p:nvPr/>
        </p:nvSpPr>
        <p:spPr>
          <a:xfrm>
            <a:off x="11256787" y="-913098"/>
            <a:ext cx="1870425" cy="1826196"/>
          </a:xfrm>
          <a:prstGeom prst="ellipse">
            <a:avLst/>
          </a:prstGeom>
          <a:solidFill>
            <a:schemeClr val="lt1">
              <a:alpha val="0"/>
            </a:schemeClr>
          </a:solidFill>
          <a:ln w="25400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17;p4">
            <a:extLst>
              <a:ext uri="{FF2B5EF4-FFF2-40B4-BE49-F238E27FC236}">
                <a16:creationId xmlns:a16="http://schemas.microsoft.com/office/drawing/2014/main" id="{B5B2B143-9E74-8CA8-6D88-1FD1519BC1EF}"/>
              </a:ext>
            </a:extLst>
          </p:cNvPr>
          <p:cNvSpPr/>
          <p:nvPr/>
        </p:nvSpPr>
        <p:spPr>
          <a:xfrm>
            <a:off x="-4352981" y="-3138940"/>
            <a:ext cx="7978496" cy="6567940"/>
          </a:xfrm>
          <a:prstGeom prst="ellipse">
            <a:avLst/>
          </a:prstGeom>
          <a:solidFill>
            <a:srgbClr val="FFC000"/>
          </a:solidFill>
          <a:ln w="1270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07;p10">
            <a:extLst>
              <a:ext uri="{FF2B5EF4-FFF2-40B4-BE49-F238E27FC236}">
                <a16:creationId xmlns:a16="http://schemas.microsoft.com/office/drawing/2014/main" id="{159599C9-0738-957E-1687-535D520F6BA7}"/>
              </a:ext>
            </a:extLst>
          </p:cNvPr>
          <p:cNvSpPr txBox="1"/>
          <p:nvPr/>
        </p:nvSpPr>
        <p:spPr>
          <a:xfrm>
            <a:off x="1269395" y="145030"/>
            <a:ext cx="87408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3600"/>
            </a:pPr>
            <a:r>
              <a:rPr lang="en-US" sz="3600" b="1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From Career Guidance Problem to Data-Driven Prototype</a:t>
            </a:r>
            <a:endParaRPr sz="36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A61D5C-38AE-A286-C3A6-334A09C8CB2A}"/>
              </a:ext>
            </a:extLst>
          </p:cNvPr>
          <p:cNvSpPr txBox="1"/>
          <p:nvPr/>
        </p:nvSpPr>
        <p:spPr>
          <a:xfrm>
            <a:off x="3392905" y="1539500"/>
            <a:ext cx="879909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/>
              <a:t>TrueCareer</a:t>
            </a:r>
            <a:r>
              <a:rPr lang="en-US" sz="2400" b="1" dirty="0"/>
              <a:t> </a:t>
            </a:r>
            <a:r>
              <a:rPr lang="en-US" sz="2400" dirty="0"/>
              <a:t>was developed to address a common challenge among Vietnamese high school students: many students struggle to choose suitable majors, understand career paths, and find reliable guidance.</a:t>
            </a:r>
            <a:br>
              <a:rPr lang="en-US" sz="2400" dirty="0"/>
            </a:br>
            <a:br>
              <a:rPr lang="en-US" sz="2400" dirty="0"/>
            </a:br>
            <a:r>
              <a:rPr lang="en-US" sz="2400" b="1" i="1" dirty="0" err="1"/>
              <a:t>TrueCareer</a:t>
            </a:r>
            <a:r>
              <a:rPr lang="en-US" sz="2400" b="1" i="1" dirty="0"/>
              <a:t> combines:</a:t>
            </a:r>
            <a:br>
              <a:rPr lang="en-US" sz="2400" dirty="0"/>
            </a:br>
            <a:r>
              <a:rPr lang="en-US" sz="2400" dirty="0"/>
              <a:t>• Career assessment</a:t>
            </a:r>
            <a:br>
              <a:rPr lang="en-US" sz="2400" dirty="0"/>
            </a:br>
            <a:r>
              <a:rPr lang="en-US" sz="2400" dirty="0"/>
              <a:t>• Student profile analysis</a:t>
            </a:r>
            <a:br>
              <a:rPr lang="en-US" sz="2400" dirty="0"/>
            </a:br>
            <a:r>
              <a:rPr lang="en-US" sz="2400" dirty="0"/>
              <a:t>• K-Means student clustering</a:t>
            </a:r>
            <a:br>
              <a:rPr lang="en-US" sz="2400" dirty="0"/>
            </a:br>
            <a:r>
              <a:rPr lang="en-US" sz="2400" dirty="0"/>
              <a:t>• Major and course recommendation</a:t>
            </a:r>
            <a:br>
              <a:rPr lang="en-US" sz="2400" dirty="0"/>
            </a:br>
            <a:r>
              <a:rPr lang="en-US" sz="2400" dirty="0"/>
              <a:t>• Mentor matching</a:t>
            </a:r>
            <a:br>
              <a:rPr lang="en-US" sz="2400" dirty="0"/>
            </a:br>
            <a:r>
              <a:rPr lang="en-US" sz="2400" dirty="0"/>
              <a:t>• </a:t>
            </a:r>
            <a:r>
              <a:rPr lang="en-US" sz="2400" dirty="0" err="1"/>
              <a:t>Streamlit</a:t>
            </a:r>
            <a:r>
              <a:rPr lang="en-US" sz="2400" dirty="0"/>
              <a:t> dashboard</a:t>
            </a:r>
            <a:br>
              <a:rPr lang="en-US" sz="2400" dirty="0"/>
            </a:br>
            <a:r>
              <a:rPr lang="en-US" sz="2400" dirty="0"/>
              <a:t>• Axure UI prototype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686413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">
            <a:hlinkClick r:id="rId3" action="ppaction://hlinksldjump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92059" y="233807"/>
            <a:ext cx="3028616" cy="1475219"/>
          </a:xfrm>
          <a:prstGeom prst="rect">
            <a:avLst/>
          </a:prstGeom>
          <a:solidFill>
            <a:schemeClr val="lt1">
              <a:alpha val="0"/>
            </a:schemeClr>
          </a:solidFill>
          <a:ln>
            <a:noFill/>
          </a:ln>
        </p:spPr>
      </p:pic>
      <p:pic>
        <p:nvPicPr>
          <p:cNvPr id="98" name="Google Shape;98;p2">
            <a:hlinkClick r:id="rId5" action="ppaction://hlinksldjump"/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92059" y="1709026"/>
            <a:ext cx="2902063" cy="1542560"/>
          </a:xfrm>
          <a:prstGeom prst="rect">
            <a:avLst/>
          </a:prstGeom>
          <a:solidFill>
            <a:schemeClr val="lt1">
              <a:alpha val="0"/>
            </a:schemeClr>
          </a:solidFill>
          <a:ln>
            <a:noFill/>
          </a:ln>
        </p:spPr>
      </p:pic>
      <p:pic>
        <p:nvPicPr>
          <p:cNvPr id="99" name="Google Shape;99;p2">
            <a:hlinkClick r:id="rId7" action="ppaction://hlinksldjump"/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392059" y="3363685"/>
            <a:ext cx="3028616" cy="1459317"/>
          </a:xfrm>
          <a:prstGeom prst="rect">
            <a:avLst/>
          </a:prstGeom>
          <a:solidFill>
            <a:schemeClr val="lt1">
              <a:alpha val="0"/>
            </a:schemeClr>
          </a:solidFill>
          <a:ln>
            <a:noFill/>
          </a:ln>
        </p:spPr>
      </p:pic>
      <p:pic>
        <p:nvPicPr>
          <p:cNvPr id="100" name="Google Shape;100;p2">
            <a:hlinkClick r:id="rId9" action="ppaction://hlinksldjump"/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392058" y="5079323"/>
            <a:ext cx="2902064" cy="1398338"/>
          </a:xfrm>
          <a:prstGeom prst="rect">
            <a:avLst/>
          </a:prstGeom>
          <a:solidFill>
            <a:schemeClr val="lt1">
              <a:alpha val="0"/>
            </a:schemeClr>
          </a:solidFill>
          <a:ln>
            <a:noFill/>
          </a:ln>
        </p:spPr>
      </p:pic>
      <p:pic>
        <p:nvPicPr>
          <p:cNvPr id="101" name="Google Shape;101;p2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47650" y="4374915"/>
            <a:ext cx="5268737" cy="2483085"/>
          </a:xfrm>
          <a:prstGeom prst="rect">
            <a:avLst/>
          </a:prstGeom>
          <a:solidFill>
            <a:schemeClr val="lt1">
              <a:alpha val="0"/>
            </a:schemeClr>
          </a:solidFill>
          <a:ln>
            <a:noFill/>
          </a:ln>
        </p:spPr>
      </p:pic>
      <p:grpSp>
        <p:nvGrpSpPr>
          <p:cNvPr id="102" name="Google Shape;102;p2"/>
          <p:cNvGrpSpPr/>
          <p:nvPr/>
        </p:nvGrpSpPr>
        <p:grpSpPr>
          <a:xfrm>
            <a:off x="4103249" y="1481873"/>
            <a:ext cx="2337561" cy="2307871"/>
            <a:chOff x="3937974" y="1608665"/>
            <a:chExt cx="2337561" cy="2307871"/>
          </a:xfrm>
        </p:grpSpPr>
        <p:pic>
          <p:nvPicPr>
            <p:cNvPr id="103" name="Google Shape;103;p2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4377096" y="1608665"/>
              <a:ext cx="1459316" cy="14593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" name="Google Shape;104;p2"/>
            <p:cNvSpPr txBox="1"/>
            <p:nvPr/>
          </p:nvSpPr>
          <p:spPr>
            <a:xfrm>
              <a:off x="3937974" y="3208650"/>
              <a:ext cx="2337561" cy="70788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Product Definition</a:t>
              </a:r>
              <a:endPara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" name="Google Shape;207;p10">
            <a:extLst>
              <a:ext uri="{FF2B5EF4-FFF2-40B4-BE49-F238E27FC236}">
                <a16:creationId xmlns:a16="http://schemas.microsoft.com/office/drawing/2014/main" id="{40A9C524-A4B5-4DF9-43A2-03E3D080E601}"/>
              </a:ext>
            </a:extLst>
          </p:cNvPr>
          <p:cNvSpPr txBox="1"/>
          <p:nvPr/>
        </p:nvSpPr>
        <p:spPr>
          <a:xfrm>
            <a:off x="247650" y="334613"/>
            <a:ext cx="592885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Business </a:t>
            </a:r>
            <a:r>
              <a:rPr lang="vi-VN" sz="2800" b="1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Analyst Scope </a:t>
            </a:r>
            <a:endParaRPr sz="28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/>
          <p:nvPr/>
        </p:nvSpPr>
        <p:spPr>
          <a:xfrm>
            <a:off x="3357239" y="669155"/>
            <a:ext cx="5477522" cy="5291091"/>
          </a:xfrm>
          <a:prstGeom prst="ellipse">
            <a:avLst/>
          </a:prstGeom>
          <a:solidFill>
            <a:srgbClr val="FFC000"/>
          </a:solidFill>
          <a:ln w="889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1" i="0" u="none" strike="noStrike" cap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1" i="0" u="none" strike="noStrike" cap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1" i="0" u="none" strike="noStrike" cap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Problems</a:t>
            </a:r>
            <a:endParaRPr sz="5400" b="1" i="0" u="none" strike="noStrike" cap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11" name="Google Shape;11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09048" y="1174331"/>
            <a:ext cx="2573903" cy="2573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/>
          <p:nvPr/>
        </p:nvSpPr>
        <p:spPr>
          <a:xfrm>
            <a:off x="-3312669" y="-2752725"/>
            <a:ext cx="18316575" cy="14801850"/>
          </a:xfrm>
          <a:prstGeom prst="ellipse">
            <a:avLst/>
          </a:prstGeom>
          <a:solidFill>
            <a:schemeClr val="lt1">
              <a:alpha val="53333"/>
            </a:schemeClr>
          </a:solidFill>
          <a:ln w="889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1" i="0" u="none" strike="noStrike" cap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1" i="0" u="none" strike="noStrike" cap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1" i="0" u="none" strike="noStrike" cap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-3486707" y="-59844"/>
            <a:ext cx="9332326" cy="6917844"/>
          </a:xfrm>
          <a:prstGeom prst="ellipse">
            <a:avLst/>
          </a:prstGeom>
          <a:solidFill>
            <a:srgbClr val="FFC000"/>
          </a:solidFill>
          <a:ln w="1270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-3536021" y="-638161"/>
            <a:ext cx="8265905" cy="8134322"/>
          </a:xfrm>
          <a:prstGeom prst="ellipse">
            <a:avLst/>
          </a:prstGeom>
          <a:solidFill>
            <a:schemeClr val="lt1">
              <a:alpha val="0"/>
            </a:schemeClr>
          </a:solidFill>
          <a:ln w="25400" cap="flat" cmpd="sng">
            <a:solidFill>
              <a:srgbClr val="0C0C0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596932" y="1864046"/>
            <a:ext cx="292017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Problems</a:t>
            </a:r>
            <a:endParaRPr sz="3600" b="1" i="0" u="none" strike="noStrike" cap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0" name="Google Shape;120;p4"/>
          <p:cNvGrpSpPr/>
          <p:nvPr/>
        </p:nvGrpSpPr>
        <p:grpSpPr>
          <a:xfrm>
            <a:off x="1822960" y="2819400"/>
            <a:ext cx="2399325" cy="609600"/>
            <a:chOff x="2719754" y="4708641"/>
            <a:chExt cx="3071446" cy="609600"/>
          </a:xfrm>
        </p:grpSpPr>
        <p:cxnSp>
          <p:nvCxnSpPr>
            <p:cNvPr id="121" name="Google Shape;121;p4"/>
            <p:cNvCxnSpPr/>
            <p:nvPr/>
          </p:nvCxnSpPr>
          <p:spPr>
            <a:xfrm>
              <a:off x="2719754" y="4708641"/>
              <a:ext cx="3071446" cy="0"/>
            </a:xfrm>
            <a:prstGeom prst="straightConnector1">
              <a:avLst/>
            </a:prstGeom>
            <a:noFill/>
            <a:ln w="44450" cap="rnd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22" name="Google Shape;122;p4"/>
            <p:cNvCxnSpPr/>
            <p:nvPr/>
          </p:nvCxnSpPr>
          <p:spPr>
            <a:xfrm>
              <a:off x="2719754" y="5001717"/>
              <a:ext cx="3071446" cy="0"/>
            </a:xfrm>
            <a:prstGeom prst="straightConnector1">
              <a:avLst/>
            </a:prstGeom>
            <a:noFill/>
            <a:ln w="44450" cap="rnd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23" name="Google Shape;123;p4"/>
            <p:cNvCxnSpPr/>
            <p:nvPr/>
          </p:nvCxnSpPr>
          <p:spPr>
            <a:xfrm>
              <a:off x="2719754" y="5318241"/>
              <a:ext cx="3071446" cy="0"/>
            </a:xfrm>
            <a:prstGeom prst="straightConnector1">
              <a:avLst/>
            </a:prstGeom>
            <a:noFill/>
            <a:ln w="44450" cap="rnd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sp>
        <p:nvSpPr>
          <p:cNvPr id="124" name="Google Shape;124;p4"/>
          <p:cNvSpPr/>
          <p:nvPr/>
        </p:nvSpPr>
        <p:spPr>
          <a:xfrm>
            <a:off x="10808792" y="6041166"/>
            <a:ext cx="1870425" cy="1826196"/>
          </a:xfrm>
          <a:prstGeom prst="ellipse">
            <a:avLst/>
          </a:prstGeom>
          <a:solidFill>
            <a:schemeClr val="lt1">
              <a:alpha val="0"/>
            </a:schemeClr>
          </a:solidFill>
          <a:ln w="25400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46384" y="212018"/>
            <a:ext cx="1283498" cy="1169683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4"/>
          <p:cNvSpPr txBox="1"/>
          <p:nvPr/>
        </p:nvSpPr>
        <p:spPr>
          <a:xfrm>
            <a:off x="6525327" y="1558728"/>
            <a:ext cx="5567400" cy="2108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232323"/>
                </a:solidFill>
              </a:defRPr>
            </a:pPr>
            <a:r>
              <a:rPr lang="en-US" sz="1800" dirty="0"/>
              <a:t>• Difficulty choosing suitable majors and career paths</a:t>
            </a:r>
            <a:br>
              <a:rPr lang="en-US" sz="1800" dirty="0"/>
            </a:br>
            <a:r>
              <a:rPr lang="en-US" sz="1800" dirty="0"/>
              <a:t>• Career information is scattered across many sources</a:t>
            </a:r>
            <a:br>
              <a:rPr lang="en-US" sz="1800" dirty="0"/>
            </a:br>
            <a:r>
              <a:rPr lang="en-US" sz="1800" dirty="0"/>
              <a:t>• Limited understanding of future labor market demand</a:t>
            </a:r>
            <a:br>
              <a:rPr lang="en-US" sz="1800" dirty="0"/>
            </a:br>
            <a:r>
              <a:rPr lang="en-US" sz="1800" dirty="0"/>
              <a:t>• Limited time</a:t>
            </a:r>
            <a:r>
              <a:rPr lang="vi-VN" sz="1800" dirty="0"/>
              <a:t> and experience</a:t>
            </a:r>
            <a:r>
              <a:rPr lang="en-US" sz="1800" dirty="0"/>
              <a:t> for self-research and decision-making</a:t>
            </a:r>
          </a:p>
        </p:txBody>
      </p:sp>
      <p:grpSp>
        <p:nvGrpSpPr>
          <p:cNvPr id="127" name="Google Shape;127;p4"/>
          <p:cNvGrpSpPr/>
          <p:nvPr/>
        </p:nvGrpSpPr>
        <p:grpSpPr>
          <a:xfrm>
            <a:off x="7853234" y="193059"/>
            <a:ext cx="3204104" cy="1169683"/>
            <a:chOff x="8522958" y="1138459"/>
            <a:chExt cx="3205878" cy="1135367"/>
          </a:xfrm>
        </p:grpSpPr>
        <p:sp>
          <p:nvSpPr>
            <p:cNvPr id="128" name="Google Shape;128;p4"/>
            <p:cNvSpPr txBox="1"/>
            <p:nvPr/>
          </p:nvSpPr>
          <p:spPr>
            <a:xfrm>
              <a:off x="8522958" y="1138459"/>
              <a:ext cx="1383042" cy="86177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9" name="Google Shape;129;p4"/>
            <p:cNvCxnSpPr/>
            <p:nvPr/>
          </p:nvCxnSpPr>
          <p:spPr>
            <a:xfrm flipH="1">
              <a:off x="8888127" y="1566303"/>
              <a:ext cx="409248" cy="366293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30" name="Google Shape;130;p4"/>
            <p:cNvSpPr txBox="1"/>
            <p:nvPr/>
          </p:nvSpPr>
          <p:spPr>
            <a:xfrm>
              <a:off x="9218039" y="1689051"/>
              <a:ext cx="1256191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4"/>
            <p:cNvSpPr txBox="1"/>
            <p:nvPr/>
          </p:nvSpPr>
          <p:spPr>
            <a:xfrm>
              <a:off x="9748611" y="1846759"/>
              <a:ext cx="198022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Grade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32" name="Google Shape;132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68971" y="3954611"/>
            <a:ext cx="1408223" cy="128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4"/>
          <p:cNvSpPr txBox="1"/>
          <p:nvPr/>
        </p:nvSpPr>
        <p:spPr>
          <a:xfrm>
            <a:off x="7501960" y="3837674"/>
            <a:ext cx="4382194" cy="22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232323"/>
                </a:solidFill>
              </a:defRPr>
            </a:pPr>
            <a:r>
              <a:rPr lang="en-US" sz="1800" dirty="0"/>
              <a:t>Need strong professional background and 5+ years of </a:t>
            </a:r>
            <a:r>
              <a:rPr lang="vi-VN" sz="1800" dirty="0"/>
              <a:t>experience.</a:t>
            </a:r>
            <a:br>
              <a:rPr lang="en-US" sz="1800" dirty="0"/>
            </a:br>
            <a:r>
              <a:rPr lang="en-US" sz="1800" dirty="0"/>
              <a:t>Mentor recommendation should be based on student needs, not random selection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coaching/ mentor </a:t>
            </a:r>
            <a:endParaRPr sz="2000" b="1" i="0" u="none" strike="noStrike" cap="none" dirty="0">
              <a:solidFill>
                <a:srgbClr val="000000"/>
              </a:solidFill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39446" y="568574"/>
            <a:ext cx="617892" cy="61789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4"/>
          <p:cNvSpPr txBox="1"/>
          <p:nvPr/>
        </p:nvSpPr>
        <p:spPr>
          <a:xfrm>
            <a:off x="10684441" y="193059"/>
            <a:ext cx="169387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Việt Nam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5"/>
          <p:cNvGrpSpPr/>
          <p:nvPr/>
        </p:nvGrpSpPr>
        <p:grpSpPr>
          <a:xfrm>
            <a:off x="3357239" y="669155"/>
            <a:ext cx="5477522" cy="5291091"/>
            <a:chOff x="3357239" y="669155"/>
            <a:chExt cx="5477522" cy="5291091"/>
          </a:xfrm>
        </p:grpSpPr>
        <p:sp>
          <p:nvSpPr>
            <p:cNvPr id="141" name="Google Shape;141;p5"/>
            <p:cNvSpPr/>
            <p:nvPr/>
          </p:nvSpPr>
          <p:spPr>
            <a:xfrm>
              <a:off x="3357239" y="669155"/>
              <a:ext cx="5477522" cy="5291091"/>
            </a:xfrm>
            <a:prstGeom prst="ellipse">
              <a:avLst/>
            </a:prstGeom>
            <a:solidFill>
              <a:srgbClr val="FFC000"/>
            </a:solidFill>
            <a:ln w="889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endParaRPr sz="54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endParaRPr sz="54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endParaRPr sz="54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lang="en-US" sz="5400" b="1" i="0" u="none" strike="noStrike" cap="none">
                  <a:solidFill>
                    <a:schemeClr val="dk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Goals </a:t>
              </a:r>
              <a:r>
                <a:rPr lang="en-US" sz="4400" b="1" i="0" u="none" strike="noStrike" cap="none">
                  <a:solidFill>
                    <a:schemeClr val="dk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&amp;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lang="en-US" sz="5400" b="1" i="0" u="none" strike="noStrike" cap="none">
                  <a:solidFill>
                    <a:schemeClr val="dk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Vision</a:t>
              </a:r>
              <a:endParaRPr sz="54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pic>
          <p:nvPicPr>
            <p:cNvPr id="142" name="Google Shape;142;p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938865" y="1209675"/>
              <a:ext cx="2314270" cy="231427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/>
          <p:nvPr/>
        </p:nvSpPr>
        <p:spPr>
          <a:xfrm>
            <a:off x="-2481955" y="-2394693"/>
            <a:ext cx="16903548" cy="12929538"/>
          </a:xfrm>
          <a:prstGeom prst="ellipse">
            <a:avLst/>
          </a:prstGeom>
          <a:solidFill>
            <a:schemeClr val="lt1">
              <a:alpha val="53333"/>
            </a:schemeClr>
          </a:solidFill>
          <a:ln w="889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1" i="0" u="none" strike="noStrike" cap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604684" y="368710"/>
            <a:ext cx="4778478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Goal &amp; Vision</a:t>
            </a:r>
            <a:endParaRPr sz="3600" b="1" i="0" u="none" strike="noStrike" cap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lt1">
              <a:alpha val="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0" y="895973"/>
            <a:ext cx="6096000" cy="685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2146436" y="1892563"/>
            <a:ext cx="3735637" cy="2954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800100" lvl="0" indent="-342900">
              <a:buSzPts val="2200"/>
              <a:buFont typeface="Arial"/>
              <a:buChar char="•"/>
            </a:pPr>
            <a:r>
              <a:rPr lang="en-US" sz="2200" dirty="0"/>
              <a:t>Help Vietnamese high school students make better academic and career decisions through assessment-based guidance.</a:t>
            </a:r>
            <a:b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56553" y="3650511"/>
            <a:ext cx="1287831" cy="1165329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6"/>
          <p:cNvSpPr txBox="1"/>
          <p:nvPr/>
        </p:nvSpPr>
        <p:spPr>
          <a:xfrm>
            <a:off x="7174598" y="4684721"/>
            <a:ext cx="5017402" cy="1785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2200"/>
            </a:pPr>
            <a:r>
              <a:rPr lang="en-US" sz="2200" b="1" dirty="0"/>
              <a:t>Become a data-driven career guidance platform that combines student assessment, recommendation logic, and mentor support.</a:t>
            </a:r>
            <a:endParaRPr sz="2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9865" y="521418"/>
            <a:ext cx="1287831" cy="1287831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6"/>
          <p:cNvSpPr txBox="1"/>
          <p:nvPr/>
        </p:nvSpPr>
        <p:spPr>
          <a:xfrm>
            <a:off x="8151561" y="701294"/>
            <a:ext cx="3470031" cy="110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Service packages</a:t>
            </a:r>
            <a:endParaRPr lang="vi-VN"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Mentor consultation</a:t>
            </a:r>
            <a:endParaRPr lang="vi-VN"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advertising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448" y="1451423"/>
            <a:ext cx="1170062" cy="1331193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6"/>
          <p:cNvSpPr txBox="1"/>
          <p:nvPr/>
        </p:nvSpPr>
        <p:spPr>
          <a:xfrm>
            <a:off x="7904937" y="3844451"/>
            <a:ext cx="2667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7"/>
          <p:cNvGrpSpPr/>
          <p:nvPr/>
        </p:nvGrpSpPr>
        <p:grpSpPr>
          <a:xfrm>
            <a:off x="3357239" y="669155"/>
            <a:ext cx="5477522" cy="5291091"/>
            <a:chOff x="3357239" y="669155"/>
            <a:chExt cx="5477522" cy="5291091"/>
          </a:xfrm>
        </p:grpSpPr>
        <p:sp>
          <p:nvSpPr>
            <p:cNvPr id="164" name="Google Shape;164;p7"/>
            <p:cNvSpPr/>
            <p:nvPr/>
          </p:nvSpPr>
          <p:spPr>
            <a:xfrm>
              <a:off x="3357239" y="669155"/>
              <a:ext cx="5477522" cy="5291091"/>
            </a:xfrm>
            <a:prstGeom prst="ellipse">
              <a:avLst/>
            </a:prstGeom>
            <a:solidFill>
              <a:srgbClr val="FFC000"/>
            </a:solidFill>
            <a:ln w="889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endParaRPr sz="54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endParaRPr sz="54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endParaRPr sz="54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lang="en-US" sz="5400" b="1" i="0" u="none" strike="noStrike" cap="none">
                  <a:solidFill>
                    <a:schemeClr val="dk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Business Objective</a:t>
              </a:r>
              <a:endParaRPr sz="54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pic>
          <p:nvPicPr>
            <p:cNvPr id="165" name="Google Shape;165;p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15231" y="1421629"/>
              <a:ext cx="2295219" cy="229521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"/>
          <p:cNvSpPr/>
          <p:nvPr/>
        </p:nvSpPr>
        <p:spPr>
          <a:xfrm>
            <a:off x="-2836674" y="-3500717"/>
            <a:ext cx="17865347" cy="14514137"/>
          </a:xfrm>
          <a:prstGeom prst="ellipse">
            <a:avLst/>
          </a:prstGeom>
          <a:solidFill>
            <a:schemeClr val="lt1">
              <a:alpha val="53333"/>
            </a:schemeClr>
          </a:solidFill>
          <a:ln w="889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9975579" y="3008943"/>
            <a:ext cx="1364842" cy="1227017"/>
          </a:xfrm>
          <a:prstGeom prst="ellipse">
            <a:avLst/>
          </a:prstGeom>
          <a:solidFill>
            <a:srgbClr val="FFC000"/>
          </a:solidFill>
          <a:ln w="38100" cap="flat" cmpd="sng">
            <a:solidFill>
              <a:srgbClr val="0C0C0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-754183" y="1506036"/>
            <a:ext cx="7010400" cy="6915811"/>
          </a:xfrm>
          <a:prstGeom prst="ellipse">
            <a:avLst/>
          </a:prstGeom>
          <a:solidFill>
            <a:srgbClr val="FFC000"/>
          </a:solidFill>
          <a:ln w="1270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-606856" y="1894058"/>
            <a:ext cx="7010400" cy="6915811"/>
          </a:xfrm>
          <a:prstGeom prst="ellipse">
            <a:avLst/>
          </a:prstGeom>
          <a:solidFill>
            <a:schemeClr val="lt1">
              <a:alpha val="0"/>
            </a:schemeClr>
          </a:solidFill>
          <a:ln w="25400" cap="flat" cmpd="sng">
            <a:solidFill>
              <a:srgbClr val="0C0C0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 txBox="1"/>
          <p:nvPr/>
        </p:nvSpPr>
        <p:spPr>
          <a:xfrm>
            <a:off x="741974" y="4734836"/>
            <a:ext cx="592885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Business Objective</a:t>
            </a:r>
            <a:endParaRPr sz="3600" b="1" i="0" u="none" strike="noStrike" cap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175" name="Google Shape;175;p8"/>
          <p:cNvGrpSpPr/>
          <p:nvPr/>
        </p:nvGrpSpPr>
        <p:grpSpPr>
          <a:xfrm>
            <a:off x="351692" y="3463276"/>
            <a:ext cx="2399325" cy="609600"/>
            <a:chOff x="2719754" y="4708641"/>
            <a:chExt cx="3071446" cy="609600"/>
          </a:xfrm>
        </p:grpSpPr>
        <p:cxnSp>
          <p:nvCxnSpPr>
            <p:cNvPr id="176" name="Google Shape;176;p8"/>
            <p:cNvCxnSpPr/>
            <p:nvPr/>
          </p:nvCxnSpPr>
          <p:spPr>
            <a:xfrm>
              <a:off x="2719754" y="4708641"/>
              <a:ext cx="3071446" cy="0"/>
            </a:xfrm>
            <a:prstGeom prst="straightConnector1">
              <a:avLst/>
            </a:prstGeom>
            <a:noFill/>
            <a:ln w="44450" cap="rnd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77" name="Google Shape;177;p8"/>
            <p:cNvCxnSpPr/>
            <p:nvPr/>
          </p:nvCxnSpPr>
          <p:spPr>
            <a:xfrm>
              <a:off x="2719754" y="5001717"/>
              <a:ext cx="3071446" cy="0"/>
            </a:xfrm>
            <a:prstGeom prst="straightConnector1">
              <a:avLst/>
            </a:prstGeom>
            <a:noFill/>
            <a:ln w="44450" cap="rnd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78" name="Google Shape;178;p8"/>
            <p:cNvCxnSpPr/>
            <p:nvPr/>
          </p:nvCxnSpPr>
          <p:spPr>
            <a:xfrm>
              <a:off x="2719754" y="5318241"/>
              <a:ext cx="3071446" cy="0"/>
            </a:xfrm>
            <a:prstGeom prst="straightConnector1">
              <a:avLst/>
            </a:prstGeom>
            <a:noFill/>
            <a:ln w="44450" cap="rnd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grpSp>
        <p:nvGrpSpPr>
          <p:cNvPr id="179" name="Google Shape;179;p8"/>
          <p:cNvGrpSpPr/>
          <p:nvPr/>
        </p:nvGrpSpPr>
        <p:grpSpPr>
          <a:xfrm>
            <a:off x="3706400" y="5972770"/>
            <a:ext cx="1934787" cy="609600"/>
            <a:chOff x="2719754" y="4708641"/>
            <a:chExt cx="3071446" cy="609600"/>
          </a:xfrm>
        </p:grpSpPr>
        <p:cxnSp>
          <p:nvCxnSpPr>
            <p:cNvPr id="180" name="Google Shape;180;p8"/>
            <p:cNvCxnSpPr/>
            <p:nvPr/>
          </p:nvCxnSpPr>
          <p:spPr>
            <a:xfrm>
              <a:off x="2719754" y="4708641"/>
              <a:ext cx="3071446" cy="0"/>
            </a:xfrm>
            <a:prstGeom prst="straightConnector1">
              <a:avLst/>
            </a:prstGeom>
            <a:noFill/>
            <a:ln w="44450" cap="rnd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81" name="Google Shape;181;p8"/>
            <p:cNvCxnSpPr/>
            <p:nvPr/>
          </p:nvCxnSpPr>
          <p:spPr>
            <a:xfrm>
              <a:off x="2719754" y="5001717"/>
              <a:ext cx="3071446" cy="0"/>
            </a:xfrm>
            <a:prstGeom prst="straightConnector1">
              <a:avLst/>
            </a:prstGeom>
            <a:noFill/>
            <a:ln w="44450" cap="rnd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82" name="Google Shape;182;p8"/>
            <p:cNvCxnSpPr/>
            <p:nvPr/>
          </p:nvCxnSpPr>
          <p:spPr>
            <a:xfrm>
              <a:off x="2719754" y="5318241"/>
              <a:ext cx="3071446" cy="0"/>
            </a:xfrm>
            <a:prstGeom prst="straightConnector1">
              <a:avLst/>
            </a:prstGeom>
            <a:noFill/>
            <a:ln w="44450" cap="rnd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pic>
        <p:nvPicPr>
          <p:cNvPr id="183" name="Google Shape;183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92384" y="545694"/>
            <a:ext cx="1496738" cy="1550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02600" y="727521"/>
            <a:ext cx="1227017" cy="1227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85579" y="2627387"/>
            <a:ext cx="1823467" cy="1823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18369" y="2713404"/>
            <a:ext cx="798642" cy="79864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8"/>
          <p:cNvSpPr txBox="1"/>
          <p:nvPr/>
        </p:nvSpPr>
        <p:spPr>
          <a:xfrm>
            <a:off x="9802540" y="3313689"/>
            <a:ext cx="174559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 Months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200K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" name="Google Shape;188;p8"/>
          <p:cNvCxnSpPr/>
          <p:nvPr/>
        </p:nvCxnSpPr>
        <p:spPr>
          <a:xfrm>
            <a:off x="8500825" y="1341029"/>
            <a:ext cx="1390072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89" name="Google Shape;189;p8"/>
          <p:cNvSpPr txBox="1"/>
          <p:nvPr/>
        </p:nvSpPr>
        <p:spPr>
          <a:xfrm>
            <a:off x="8677962" y="893014"/>
            <a:ext cx="12270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months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06256" y="5034897"/>
            <a:ext cx="1612113" cy="1612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20415" y="5214069"/>
            <a:ext cx="715093" cy="71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95072" y="4750915"/>
            <a:ext cx="715093" cy="715093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8"/>
          <p:cNvSpPr/>
          <p:nvPr/>
        </p:nvSpPr>
        <p:spPr>
          <a:xfrm>
            <a:off x="9992917" y="5290365"/>
            <a:ext cx="1364842" cy="1227017"/>
          </a:xfrm>
          <a:prstGeom prst="ellipse">
            <a:avLst/>
          </a:prstGeom>
          <a:solidFill>
            <a:srgbClr val="FFC000"/>
          </a:solidFill>
          <a:ln w="38100" cap="flat" cmpd="sng">
            <a:solidFill>
              <a:srgbClr val="0C0C0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 txBox="1"/>
          <p:nvPr/>
        </p:nvSpPr>
        <p:spPr>
          <a:xfrm>
            <a:off x="9817172" y="5580707"/>
            <a:ext cx="174559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 Months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70K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oogle Shape;199;p9"/>
          <p:cNvGrpSpPr/>
          <p:nvPr/>
        </p:nvGrpSpPr>
        <p:grpSpPr>
          <a:xfrm>
            <a:off x="3357239" y="669155"/>
            <a:ext cx="5477522" cy="5291091"/>
            <a:chOff x="3357239" y="669155"/>
            <a:chExt cx="5477522" cy="5291091"/>
          </a:xfrm>
        </p:grpSpPr>
        <p:sp>
          <p:nvSpPr>
            <p:cNvPr id="200" name="Google Shape;200;p9"/>
            <p:cNvSpPr/>
            <p:nvPr/>
          </p:nvSpPr>
          <p:spPr>
            <a:xfrm>
              <a:off x="3357239" y="669155"/>
              <a:ext cx="5477522" cy="5291091"/>
            </a:xfrm>
            <a:prstGeom prst="ellipse">
              <a:avLst/>
            </a:prstGeom>
            <a:solidFill>
              <a:srgbClr val="FFC000"/>
            </a:solidFill>
            <a:ln w="889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endParaRPr sz="54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endParaRPr sz="54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endParaRPr sz="54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lang="en-US" sz="5400" b="1" i="0" u="none" strike="noStrike" cap="none">
                  <a:solidFill>
                    <a:schemeClr val="dk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Business Cases</a:t>
              </a:r>
              <a:endParaRPr sz="54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pic>
          <p:nvPicPr>
            <p:cNvPr id="201" name="Google Shape;201;p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896155" y="1050154"/>
              <a:ext cx="2695270" cy="269527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/>
          <p:nvPr/>
        </p:nvSpPr>
        <p:spPr>
          <a:xfrm>
            <a:off x="-1337173" y="-4189228"/>
            <a:ext cx="15079617" cy="15672390"/>
          </a:xfrm>
          <a:prstGeom prst="ellipse">
            <a:avLst/>
          </a:prstGeom>
          <a:solidFill>
            <a:schemeClr val="lt1">
              <a:alpha val="53333"/>
            </a:schemeClr>
          </a:solidFill>
          <a:ln w="889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07" name="Google Shape;207;p10"/>
          <p:cNvSpPr txBox="1"/>
          <p:nvPr/>
        </p:nvSpPr>
        <p:spPr>
          <a:xfrm>
            <a:off x="707922" y="339212"/>
            <a:ext cx="592885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Business Cases</a:t>
            </a:r>
            <a:endParaRPr sz="36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4473678" y="-57811"/>
            <a:ext cx="7010400" cy="6915811"/>
          </a:xfrm>
          <a:prstGeom prst="ellipse">
            <a:avLst/>
          </a:prstGeom>
          <a:solidFill>
            <a:srgbClr val="FFC000"/>
          </a:solidFill>
          <a:ln w="1270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4473678" y="-60749"/>
            <a:ext cx="7010400" cy="6915811"/>
          </a:xfrm>
          <a:prstGeom prst="ellipse">
            <a:avLst/>
          </a:prstGeom>
          <a:solidFill>
            <a:schemeClr val="lt1">
              <a:alpha val="0"/>
            </a:schemeClr>
          </a:solidFill>
          <a:ln w="25400" cap="flat" cmpd="sng">
            <a:solidFill>
              <a:srgbClr val="0C0C0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 txBox="1"/>
          <p:nvPr/>
        </p:nvSpPr>
        <p:spPr>
          <a:xfrm>
            <a:off x="7029070" y="282089"/>
            <a:ext cx="287631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???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80235" y="662377"/>
            <a:ext cx="842935" cy="84293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2" name="Google Shape;212;p10"/>
          <p:cNvCxnSpPr/>
          <p:nvPr/>
        </p:nvCxnSpPr>
        <p:spPr>
          <a:xfrm>
            <a:off x="7942669" y="968516"/>
            <a:ext cx="550413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213" name="Google Shape;213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64693" y="487063"/>
            <a:ext cx="962905" cy="96290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0"/>
          <p:cNvSpPr txBox="1"/>
          <p:nvPr/>
        </p:nvSpPr>
        <p:spPr>
          <a:xfrm>
            <a:off x="7690607" y="1382270"/>
            <a:ext cx="2876315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3-5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" lvl="0" algn="ctr">
              <a:buSzPts val="2200"/>
            </a:pPr>
            <a:r>
              <a:rPr lang="en-US" sz="1600" dirty="0"/>
              <a:t>recommends majors, courses, and career paths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5" name="Google Shape;215;p10"/>
          <p:cNvCxnSpPr/>
          <p:nvPr/>
        </p:nvCxnSpPr>
        <p:spPr>
          <a:xfrm>
            <a:off x="6453830" y="3508171"/>
            <a:ext cx="4078503" cy="0"/>
          </a:xfrm>
          <a:prstGeom prst="straightConnector1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16" name="Google Shape;216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04556" y="2482756"/>
            <a:ext cx="914401" cy="914401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0"/>
          <p:cNvSpPr txBox="1"/>
          <p:nvPr/>
        </p:nvSpPr>
        <p:spPr>
          <a:xfrm>
            <a:off x="8099920" y="2593904"/>
            <a:ext cx="229245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US" sz="1600" dirty="0"/>
              <a:t>System suggests suitable mentor type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6412911" y="5827155"/>
            <a:ext cx="3717352" cy="294618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Sử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dụng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lần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lượt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gói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thanh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toán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9" name="Google Shape;219;p10"/>
          <p:cNvCxnSpPr/>
          <p:nvPr/>
        </p:nvCxnSpPr>
        <p:spPr>
          <a:xfrm>
            <a:off x="6412911" y="2248263"/>
            <a:ext cx="4078503" cy="0"/>
          </a:xfrm>
          <a:prstGeom prst="straightConnector1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20" name="Google Shape;220;p1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49858" y="3730199"/>
            <a:ext cx="1331106" cy="133110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0"/>
          <p:cNvSpPr txBox="1"/>
          <p:nvPr/>
        </p:nvSpPr>
        <p:spPr>
          <a:xfrm>
            <a:off x="7978878" y="3944489"/>
            <a:ext cx="245286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vi-VN" sz="1600" b="0" i="0" u="none" strike="noStrike" cap="none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Raising 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income and </a:t>
            </a:r>
            <a:r>
              <a:rPr lang="vi-VN" sz="1600" b="0" i="0" u="none" strike="noStrike" cap="none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personal branding</a:t>
            </a:r>
            <a:endParaRPr sz="1600"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cxnSp>
        <p:nvCxnSpPr>
          <p:cNvPr id="222" name="Google Shape;222;p10"/>
          <p:cNvCxnSpPr/>
          <p:nvPr/>
        </p:nvCxnSpPr>
        <p:spPr>
          <a:xfrm>
            <a:off x="6488419" y="5299233"/>
            <a:ext cx="4078503" cy="0"/>
          </a:xfrm>
          <a:prstGeom prst="straightConnector1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"/>
          <p:cNvSpPr txBox="1"/>
          <p:nvPr/>
        </p:nvSpPr>
        <p:spPr>
          <a:xfrm>
            <a:off x="932606" y="412219"/>
            <a:ext cx="4486275" cy="15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 Journey </a:t>
            </a:r>
            <a:endParaRPr sz="4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8" name="Google Shape;228;p11"/>
          <p:cNvCxnSpPr/>
          <p:nvPr/>
        </p:nvCxnSpPr>
        <p:spPr>
          <a:xfrm>
            <a:off x="0" y="5117690"/>
            <a:ext cx="121920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229" name="Google Shape;229;p11"/>
          <p:cNvGrpSpPr/>
          <p:nvPr/>
        </p:nvGrpSpPr>
        <p:grpSpPr>
          <a:xfrm>
            <a:off x="9352572" y="4696286"/>
            <a:ext cx="876442" cy="842808"/>
            <a:chOff x="1425576" y="4435898"/>
            <a:chExt cx="876442" cy="842808"/>
          </a:xfrm>
        </p:grpSpPr>
        <p:sp>
          <p:nvSpPr>
            <p:cNvPr id="230" name="Google Shape;230;p11"/>
            <p:cNvSpPr/>
            <p:nvPr/>
          </p:nvSpPr>
          <p:spPr>
            <a:xfrm>
              <a:off x="1425576" y="4435898"/>
              <a:ext cx="876442" cy="842808"/>
            </a:xfrm>
            <a:prstGeom prst="ellipse">
              <a:avLst/>
            </a:prstGeom>
            <a:solidFill>
              <a:srgbClr val="FFC000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1" name="Google Shape;231;p11"/>
            <p:cNvGrpSpPr/>
            <p:nvPr/>
          </p:nvGrpSpPr>
          <p:grpSpPr>
            <a:xfrm>
              <a:off x="1719819" y="4629036"/>
              <a:ext cx="287955" cy="456532"/>
              <a:chOff x="6718575" y="2318625"/>
              <a:chExt cx="256950" cy="407375"/>
            </a:xfrm>
          </p:grpSpPr>
          <p:sp>
            <p:nvSpPr>
              <p:cNvPr id="232" name="Google Shape;232;p11"/>
              <p:cNvSpPr/>
              <p:nvPr/>
            </p:nvSpPr>
            <p:spPr>
              <a:xfrm>
                <a:off x="6795900" y="2673600"/>
                <a:ext cx="102300" cy="22550"/>
              </a:xfrm>
              <a:custGeom>
                <a:avLst/>
                <a:gdLst/>
                <a:ahLst/>
                <a:cxnLst/>
                <a:rect l="l" t="t" r="r" b="b"/>
                <a:pathLst>
                  <a:path w="4092" h="902" fill="none" extrusionOk="0">
                    <a:moveTo>
                      <a:pt x="4092" y="902"/>
                    </a:moveTo>
                    <a:lnTo>
                      <a:pt x="4092" y="1"/>
                    </a:lnTo>
                    <a:lnTo>
                      <a:pt x="0" y="1"/>
                    </a:lnTo>
                    <a:lnTo>
                      <a:pt x="0" y="902"/>
                    </a:lnTo>
                    <a:lnTo>
                      <a:pt x="4092" y="902"/>
                    </a:lnTo>
                    <a:close/>
                  </a:path>
                </a:pathLst>
              </a:custGeom>
              <a:noFill/>
              <a:ln w="952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>
                <a:off x="6795900" y="2650475"/>
                <a:ext cx="102300" cy="22550"/>
              </a:xfrm>
              <a:custGeom>
                <a:avLst/>
                <a:gdLst/>
                <a:ahLst/>
                <a:cxnLst/>
                <a:rect l="l" t="t" r="r" b="b"/>
                <a:pathLst>
                  <a:path w="4092" h="902" fill="none" extrusionOk="0">
                    <a:moveTo>
                      <a:pt x="4092" y="901"/>
                    </a:moveTo>
                    <a:lnTo>
                      <a:pt x="4092" y="0"/>
                    </a:lnTo>
                    <a:lnTo>
                      <a:pt x="0" y="0"/>
                    </a:lnTo>
                    <a:lnTo>
                      <a:pt x="0" y="901"/>
                    </a:lnTo>
                    <a:lnTo>
                      <a:pt x="4092" y="90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" name="Google Shape;234;p11"/>
              <p:cNvSpPr/>
              <p:nvPr/>
            </p:nvSpPr>
            <p:spPr>
              <a:xfrm>
                <a:off x="6795900" y="2696125"/>
                <a:ext cx="102300" cy="29875"/>
              </a:xfrm>
              <a:custGeom>
                <a:avLst/>
                <a:gdLst/>
                <a:ahLst/>
                <a:cxnLst/>
                <a:rect l="l" t="t" r="r" b="b"/>
                <a:pathLst>
                  <a:path w="4092" h="1195" fill="none" extrusionOk="0">
                    <a:moveTo>
                      <a:pt x="0" y="1"/>
                    </a:moveTo>
                    <a:lnTo>
                      <a:pt x="0" y="171"/>
                    </a:lnTo>
                    <a:lnTo>
                      <a:pt x="0" y="171"/>
                    </a:lnTo>
                    <a:lnTo>
                      <a:pt x="24" y="318"/>
                    </a:lnTo>
                    <a:lnTo>
                      <a:pt x="98" y="464"/>
                    </a:lnTo>
                    <a:lnTo>
                      <a:pt x="195" y="585"/>
                    </a:lnTo>
                    <a:lnTo>
                      <a:pt x="341" y="659"/>
                    </a:lnTo>
                    <a:lnTo>
                      <a:pt x="1875" y="1170"/>
                    </a:lnTo>
                    <a:lnTo>
                      <a:pt x="1875" y="1170"/>
                    </a:lnTo>
                    <a:lnTo>
                      <a:pt x="2046" y="1194"/>
                    </a:lnTo>
                    <a:lnTo>
                      <a:pt x="2046" y="1194"/>
                    </a:lnTo>
                    <a:lnTo>
                      <a:pt x="2216" y="1170"/>
                    </a:lnTo>
                    <a:lnTo>
                      <a:pt x="3751" y="659"/>
                    </a:lnTo>
                    <a:lnTo>
                      <a:pt x="3751" y="659"/>
                    </a:lnTo>
                    <a:lnTo>
                      <a:pt x="3897" y="585"/>
                    </a:lnTo>
                    <a:lnTo>
                      <a:pt x="3994" y="464"/>
                    </a:lnTo>
                    <a:lnTo>
                      <a:pt x="4067" y="318"/>
                    </a:lnTo>
                    <a:lnTo>
                      <a:pt x="4092" y="171"/>
                    </a:lnTo>
                    <a:lnTo>
                      <a:pt x="4092" y="1"/>
                    </a:lnTo>
                    <a:lnTo>
                      <a:pt x="0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p11"/>
              <p:cNvSpPr/>
              <p:nvPr/>
            </p:nvSpPr>
            <p:spPr>
              <a:xfrm>
                <a:off x="6784925" y="2459275"/>
                <a:ext cx="35350" cy="166875"/>
              </a:xfrm>
              <a:custGeom>
                <a:avLst/>
                <a:gdLst/>
                <a:ahLst/>
                <a:cxnLst/>
                <a:rect l="l" t="t" r="r" b="b"/>
                <a:pathLst>
                  <a:path w="1414" h="6675" fill="none" extrusionOk="0">
                    <a:moveTo>
                      <a:pt x="1413" y="6674"/>
                    </a:moveTo>
                    <a:lnTo>
                      <a:pt x="1413" y="6674"/>
                    </a:lnTo>
                    <a:lnTo>
                      <a:pt x="585" y="2850"/>
                    </a:lnTo>
                    <a:lnTo>
                      <a:pt x="1" y="1"/>
                    </a:lnTo>
                  </a:path>
                </a:pathLst>
              </a:custGeom>
              <a:noFill/>
              <a:ln w="952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>
                <a:off x="6718575" y="2318625"/>
                <a:ext cx="256950" cy="307525"/>
              </a:xfrm>
              <a:custGeom>
                <a:avLst/>
                <a:gdLst/>
                <a:ahLst/>
                <a:cxnLst/>
                <a:rect l="l" t="t" r="r" b="b"/>
                <a:pathLst>
                  <a:path w="10278" h="12301" fill="none" extrusionOk="0">
                    <a:moveTo>
                      <a:pt x="7185" y="12300"/>
                    </a:moveTo>
                    <a:lnTo>
                      <a:pt x="7185" y="12300"/>
                    </a:lnTo>
                    <a:lnTo>
                      <a:pt x="7307" y="11764"/>
                    </a:lnTo>
                    <a:lnTo>
                      <a:pt x="7477" y="11253"/>
                    </a:lnTo>
                    <a:lnTo>
                      <a:pt x="7672" y="10766"/>
                    </a:lnTo>
                    <a:lnTo>
                      <a:pt x="7891" y="10327"/>
                    </a:lnTo>
                    <a:lnTo>
                      <a:pt x="8135" y="9913"/>
                    </a:lnTo>
                    <a:lnTo>
                      <a:pt x="8378" y="9499"/>
                    </a:lnTo>
                    <a:lnTo>
                      <a:pt x="8914" y="8720"/>
                    </a:lnTo>
                    <a:lnTo>
                      <a:pt x="9182" y="8330"/>
                    </a:lnTo>
                    <a:lnTo>
                      <a:pt x="9425" y="7941"/>
                    </a:lnTo>
                    <a:lnTo>
                      <a:pt x="9645" y="7551"/>
                    </a:lnTo>
                    <a:lnTo>
                      <a:pt x="9864" y="7113"/>
                    </a:lnTo>
                    <a:lnTo>
                      <a:pt x="10034" y="6674"/>
                    </a:lnTo>
                    <a:lnTo>
                      <a:pt x="10156" y="6187"/>
                    </a:lnTo>
                    <a:lnTo>
                      <a:pt x="10229" y="5676"/>
                    </a:lnTo>
                    <a:lnTo>
                      <a:pt x="10253" y="5408"/>
                    </a:lnTo>
                    <a:lnTo>
                      <a:pt x="10278" y="5140"/>
                    </a:lnTo>
                    <a:lnTo>
                      <a:pt x="10278" y="5140"/>
                    </a:lnTo>
                    <a:lnTo>
                      <a:pt x="10229" y="4604"/>
                    </a:lnTo>
                    <a:lnTo>
                      <a:pt x="10156" y="4093"/>
                    </a:lnTo>
                    <a:lnTo>
                      <a:pt x="10034" y="3605"/>
                    </a:lnTo>
                    <a:lnTo>
                      <a:pt x="9864" y="3143"/>
                    </a:lnTo>
                    <a:lnTo>
                      <a:pt x="9645" y="2680"/>
                    </a:lnTo>
                    <a:lnTo>
                      <a:pt x="9401" y="2266"/>
                    </a:lnTo>
                    <a:lnTo>
                      <a:pt x="9084" y="1876"/>
                    </a:lnTo>
                    <a:lnTo>
                      <a:pt x="8768" y="1511"/>
                    </a:lnTo>
                    <a:lnTo>
                      <a:pt x="8402" y="1170"/>
                    </a:lnTo>
                    <a:lnTo>
                      <a:pt x="8013" y="878"/>
                    </a:lnTo>
                    <a:lnTo>
                      <a:pt x="7574" y="634"/>
                    </a:lnTo>
                    <a:lnTo>
                      <a:pt x="7136" y="415"/>
                    </a:lnTo>
                    <a:lnTo>
                      <a:pt x="6673" y="244"/>
                    </a:lnTo>
                    <a:lnTo>
                      <a:pt x="6162" y="98"/>
                    </a:lnTo>
                    <a:lnTo>
                      <a:pt x="5675" y="25"/>
                    </a:lnTo>
                    <a:lnTo>
                      <a:pt x="5139" y="1"/>
                    </a:lnTo>
                    <a:lnTo>
                      <a:pt x="5139" y="1"/>
                    </a:lnTo>
                    <a:lnTo>
                      <a:pt x="4603" y="25"/>
                    </a:lnTo>
                    <a:lnTo>
                      <a:pt x="4116" y="98"/>
                    </a:lnTo>
                    <a:lnTo>
                      <a:pt x="3605" y="244"/>
                    </a:lnTo>
                    <a:lnTo>
                      <a:pt x="3142" y="415"/>
                    </a:lnTo>
                    <a:lnTo>
                      <a:pt x="2703" y="634"/>
                    </a:lnTo>
                    <a:lnTo>
                      <a:pt x="2265" y="878"/>
                    </a:lnTo>
                    <a:lnTo>
                      <a:pt x="1875" y="1170"/>
                    </a:lnTo>
                    <a:lnTo>
                      <a:pt x="1510" y="1511"/>
                    </a:lnTo>
                    <a:lnTo>
                      <a:pt x="1193" y="1876"/>
                    </a:lnTo>
                    <a:lnTo>
                      <a:pt x="877" y="2266"/>
                    </a:lnTo>
                    <a:lnTo>
                      <a:pt x="633" y="2680"/>
                    </a:lnTo>
                    <a:lnTo>
                      <a:pt x="414" y="3143"/>
                    </a:lnTo>
                    <a:lnTo>
                      <a:pt x="244" y="3605"/>
                    </a:lnTo>
                    <a:lnTo>
                      <a:pt x="122" y="4093"/>
                    </a:lnTo>
                    <a:lnTo>
                      <a:pt x="49" y="4604"/>
                    </a:lnTo>
                    <a:lnTo>
                      <a:pt x="0" y="5140"/>
                    </a:lnTo>
                    <a:lnTo>
                      <a:pt x="0" y="5140"/>
                    </a:lnTo>
                    <a:lnTo>
                      <a:pt x="24" y="5408"/>
                    </a:lnTo>
                    <a:lnTo>
                      <a:pt x="49" y="5676"/>
                    </a:lnTo>
                    <a:lnTo>
                      <a:pt x="122" y="6187"/>
                    </a:lnTo>
                    <a:lnTo>
                      <a:pt x="244" y="6674"/>
                    </a:lnTo>
                    <a:lnTo>
                      <a:pt x="414" y="7113"/>
                    </a:lnTo>
                    <a:lnTo>
                      <a:pt x="633" y="7551"/>
                    </a:lnTo>
                    <a:lnTo>
                      <a:pt x="852" y="7941"/>
                    </a:lnTo>
                    <a:lnTo>
                      <a:pt x="1096" y="8330"/>
                    </a:lnTo>
                    <a:lnTo>
                      <a:pt x="1364" y="8720"/>
                    </a:lnTo>
                    <a:lnTo>
                      <a:pt x="1900" y="9499"/>
                    </a:lnTo>
                    <a:lnTo>
                      <a:pt x="2143" y="9913"/>
                    </a:lnTo>
                    <a:lnTo>
                      <a:pt x="2387" y="10327"/>
                    </a:lnTo>
                    <a:lnTo>
                      <a:pt x="2606" y="10766"/>
                    </a:lnTo>
                    <a:lnTo>
                      <a:pt x="2801" y="11253"/>
                    </a:lnTo>
                    <a:lnTo>
                      <a:pt x="2971" y="11764"/>
                    </a:lnTo>
                    <a:lnTo>
                      <a:pt x="3093" y="12300"/>
                    </a:lnTo>
                  </a:path>
                </a:pathLst>
              </a:custGeom>
              <a:noFill/>
              <a:ln w="952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>
                <a:off x="6873825" y="2459275"/>
                <a:ext cx="35350" cy="166875"/>
              </a:xfrm>
              <a:custGeom>
                <a:avLst/>
                <a:gdLst/>
                <a:ahLst/>
                <a:cxnLst/>
                <a:rect l="l" t="t" r="r" b="b"/>
                <a:pathLst>
                  <a:path w="1414" h="6675" fill="none" extrusionOk="0">
                    <a:moveTo>
                      <a:pt x="1413" y="1"/>
                    </a:moveTo>
                    <a:lnTo>
                      <a:pt x="1413" y="1"/>
                    </a:lnTo>
                    <a:lnTo>
                      <a:pt x="829" y="2850"/>
                    </a:lnTo>
                    <a:lnTo>
                      <a:pt x="1" y="6674"/>
                    </a:lnTo>
                  </a:path>
                </a:pathLst>
              </a:custGeom>
              <a:noFill/>
              <a:ln w="952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>
                <a:off x="6801975" y="2453200"/>
                <a:ext cx="90150" cy="19500"/>
              </a:xfrm>
              <a:custGeom>
                <a:avLst/>
                <a:gdLst/>
                <a:ahLst/>
                <a:cxnLst/>
                <a:rect l="l" t="t" r="r" b="b"/>
                <a:pathLst>
                  <a:path w="3606" h="780" fill="none" extrusionOk="0">
                    <a:moveTo>
                      <a:pt x="1" y="73"/>
                    </a:moveTo>
                    <a:lnTo>
                      <a:pt x="829" y="780"/>
                    </a:lnTo>
                    <a:lnTo>
                      <a:pt x="1657" y="73"/>
                    </a:lnTo>
                    <a:lnTo>
                      <a:pt x="1657" y="73"/>
                    </a:lnTo>
                    <a:lnTo>
                      <a:pt x="1730" y="25"/>
                    </a:lnTo>
                    <a:lnTo>
                      <a:pt x="1803" y="0"/>
                    </a:lnTo>
                    <a:lnTo>
                      <a:pt x="1876" y="25"/>
                    </a:lnTo>
                    <a:lnTo>
                      <a:pt x="1949" y="73"/>
                    </a:lnTo>
                    <a:lnTo>
                      <a:pt x="2777" y="780"/>
                    </a:lnTo>
                    <a:lnTo>
                      <a:pt x="3605" y="73"/>
                    </a:lnTo>
                  </a:path>
                </a:pathLst>
              </a:custGeom>
              <a:noFill/>
              <a:ln w="952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" name="Google Shape;239;p11"/>
              <p:cNvSpPr/>
              <p:nvPr/>
            </p:nvSpPr>
            <p:spPr>
              <a:xfrm>
                <a:off x="6795900" y="2628550"/>
                <a:ext cx="1023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4092" h="1" fill="none" extrusionOk="0">
                    <a:moveTo>
                      <a:pt x="0" y="1"/>
                    </a:moveTo>
                    <a:lnTo>
                      <a:pt x="4092" y="1"/>
                    </a:lnTo>
                  </a:path>
                </a:pathLst>
              </a:custGeom>
              <a:noFill/>
              <a:ln w="952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40" name="Google Shape;240;p11"/>
          <p:cNvGrpSpPr/>
          <p:nvPr/>
        </p:nvGrpSpPr>
        <p:grpSpPr>
          <a:xfrm>
            <a:off x="2568987" y="4696286"/>
            <a:ext cx="876442" cy="842808"/>
            <a:chOff x="1425576" y="4435898"/>
            <a:chExt cx="876442" cy="842808"/>
          </a:xfrm>
        </p:grpSpPr>
        <p:sp>
          <p:nvSpPr>
            <p:cNvPr id="241" name="Google Shape;241;p11"/>
            <p:cNvSpPr/>
            <p:nvPr/>
          </p:nvSpPr>
          <p:spPr>
            <a:xfrm>
              <a:off x="1425576" y="4435898"/>
              <a:ext cx="876442" cy="842808"/>
            </a:xfrm>
            <a:prstGeom prst="ellipse">
              <a:avLst/>
            </a:prstGeom>
            <a:solidFill>
              <a:srgbClr val="FFC000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2" name="Google Shape;242;p11"/>
            <p:cNvGrpSpPr/>
            <p:nvPr/>
          </p:nvGrpSpPr>
          <p:grpSpPr>
            <a:xfrm>
              <a:off x="1719819" y="4629036"/>
              <a:ext cx="287955" cy="456532"/>
              <a:chOff x="6718575" y="2318625"/>
              <a:chExt cx="256950" cy="407375"/>
            </a:xfrm>
          </p:grpSpPr>
          <p:sp>
            <p:nvSpPr>
              <p:cNvPr id="243" name="Google Shape;243;p11"/>
              <p:cNvSpPr/>
              <p:nvPr/>
            </p:nvSpPr>
            <p:spPr>
              <a:xfrm>
                <a:off x="6795900" y="2673600"/>
                <a:ext cx="102300" cy="22550"/>
              </a:xfrm>
              <a:custGeom>
                <a:avLst/>
                <a:gdLst/>
                <a:ahLst/>
                <a:cxnLst/>
                <a:rect l="l" t="t" r="r" b="b"/>
                <a:pathLst>
                  <a:path w="4092" h="902" fill="none" extrusionOk="0">
                    <a:moveTo>
                      <a:pt x="4092" y="902"/>
                    </a:moveTo>
                    <a:lnTo>
                      <a:pt x="4092" y="1"/>
                    </a:lnTo>
                    <a:lnTo>
                      <a:pt x="0" y="1"/>
                    </a:lnTo>
                    <a:lnTo>
                      <a:pt x="0" y="902"/>
                    </a:lnTo>
                    <a:lnTo>
                      <a:pt x="4092" y="902"/>
                    </a:lnTo>
                    <a:close/>
                  </a:path>
                </a:pathLst>
              </a:custGeom>
              <a:noFill/>
              <a:ln w="952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" name="Google Shape;244;p11"/>
              <p:cNvSpPr/>
              <p:nvPr/>
            </p:nvSpPr>
            <p:spPr>
              <a:xfrm>
                <a:off x="6795900" y="2650475"/>
                <a:ext cx="102300" cy="22550"/>
              </a:xfrm>
              <a:custGeom>
                <a:avLst/>
                <a:gdLst/>
                <a:ahLst/>
                <a:cxnLst/>
                <a:rect l="l" t="t" r="r" b="b"/>
                <a:pathLst>
                  <a:path w="4092" h="902" fill="none" extrusionOk="0">
                    <a:moveTo>
                      <a:pt x="4092" y="901"/>
                    </a:moveTo>
                    <a:lnTo>
                      <a:pt x="4092" y="0"/>
                    </a:lnTo>
                    <a:lnTo>
                      <a:pt x="0" y="0"/>
                    </a:lnTo>
                    <a:lnTo>
                      <a:pt x="0" y="901"/>
                    </a:lnTo>
                    <a:lnTo>
                      <a:pt x="4092" y="90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>
                <a:off x="6795900" y="2696125"/>
                <a:ext cx="102300" cy="29875"/>
              </a:xfrm>
              <a:custGeom>
                <a:avLst/>
                <a:gdLst/>
                <a:ahLst/>
                <a:cxnLst/>
                <a:rect l="l" t="t" r="r" b="b"/>
                <a:pathLst>
                  <a:path w="4092" h="1195" fill="none" extrusionOk="0">
                    <a:moveTo>
                      <a:pt x="0" y="1"/>
                    </a:moveTo>
                    <a:lnTo>
                      <a:pt x="0" y="171"/>
                    </a:lnTo>
                    <a:lnTo>
                      <a:pt x="0" y="171"/>
                    </a:lnTo>
                    <a:lnTo>
                      <a:pt x="24" y="318"/>
                    </a:lnTo>
                    <a:lnTo>
                      <a:pt x="98" y="464"/>
                    </a:lnTo>
                    <a:lnTo>
                      <a:pt x="195" y="585"/>
                    </a:lnTo>
                    <a:lnTo>
                      <a:pt x="341" y="659"/>
                    </a:lnTo>
                    <a:lnTo>
                      <a:pt x="1875" y="1170"/>
                    </a:lnTo>
                    <a:lnTo>
                      <a:pt x="1875" y="1170"/>
                    </a:lnTo>
                    <a:lnTo>
                      <a:pt x="2046" y="1194"/>
                    </a:lnTo>
                    <a:lnTo>
                      <a:pt x="2046" y="1194"/>
                    </a:lnTo>
                    <a:lnTo>
                      <a:pt x="2216" y="1170"/>
                    </a:lnTo>
                    <a:lnTo>
                      <a:pt x="3751" y="659"/>
                    </a:lnTo>
                    <a:lnTo>
                      <a:pt x="3751" y="659"/>
                    </a:lnTo>
                    <a:lnTo>
                      <a:pt x="3897" y="585"/>
                    </a:lnTo>
                    <a:lnTo>
                      <a:pt x="3994" y="464"/>
                    </a:lnTo>
                    <a:lnTo>
                      <a:pt x="4067" y="318"/>
                    </a:lnTo>
                    <a:lnTo>
                      <a:pt x="4092" y="171"/>
                    </a:lnTo>
                    <a:lnTo>
                      <a:pt x="4092" y="1"/>
                    </a:lnTo>
                    <a:lnTo>
                      <a:pt x="0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>
                <a:off x="6784925" y="2459275"/>
                <a:ext cx="35350" cy="166875"/>
              </a:xfrm>
              <a:custGeom>
                <a:avLst/>
                <a:gdLst/>
                <a:ahLst/>
                <a:cxnLst/>
                <a:rect l="l" t="t" r="r" b="b"/>
                <a:pathLst>
                  <a:path w="1414" h="6675" fill="none" extrusionOk="0">
                    <a:moveTo>
                      <a:pt x="1413" y="6674"/>
                    </a:moveTo>
                    <a:lnTo>
                      <a:pt x="1413" y="6674"/>
                    </a:lnTo>
                    <a:lnTo>
                      <a:pt x="585" y="2850"/>
                    </a:lnTo>
                    <a:lnTo>
                      <a:pt x="1" y="1"/>
                    </a:lnTo>
                  </a:path>
                </a:pathLst>
              </a:custGeom>
              <a:noFill/>
              <a:ln w="952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>
                <a:off x="6718575" y="2318625"/>
                <a:ext cx="256950" cy="307525"/>
              </a:xfrm>
              <a:custGeom>
                <a:avLst/>
                <a:gdLst/>
                <a:ahLst/>
                <a:cxnLst/>
                <a:rect l="l" t="t" r="r" b="b"/>
                <a:pathLst>
                  <a:path w="10278" h="12301" fill="none" extrusionOk="0">
                    <a:moveTo>
                      <a:pt x="7185" y="12300"/>
                    </a:moveTo>
                    <a:lnTo>
                      <a:pt x="7185" y="12300"/>
                    </a:lnTo>
                    <a:lnTo>
                      <a:pt x="7307" y="11764"/>
                    </a:lnTo>
                    <a:lnTo>
                      <a:pt x="7477" y="11253"/>
                    </a:lnTo>
                    <a:lnTo>
                      <a:pt x="7672" y="10766"/>
                    </a:lnTo>
                    <a:lnTo>
                      <a:pt x="7891" y="10327"/>
                    </a:lnTo>
                    <a:lnTo>
                      <a:pt x="8135" y="9913"/>
                    </a:lnTo>
                    <a:lnTo>
                      <a:pt x="8378" y="9499"/>
                    </a:lnTo>
                    <a:lnTo>
                      <a:pt x="8914" y="8720"/>
                    </a:lnTo>
                    <a:lnTo>
                      <a:pt x="9182" y="8330"/>
                    </a:lnTo>
                    <a:lnTo>
                      <a:pt x="9425" y="7941"/>
                    </a:lnTo>
                    <a:lnTo>
                      <a:pt x="9645" y="7551"/>
                    </a:lnTo>
                    <a:lnTo>
                      <a:pt x="9864" y="7113"/>
                    </a:lnTo>
                    <a:lnTo>
                      <a:pt x="10034" y="6674"/>
                    </a:lnTo>
                    <a:lnTo>
                      <a:pt x="10156" y="6187"/>
                    </a:lnTo>
                    <a:lnTo>
                      <a:pt x="10229" y="5676"/>
                    </a:lnTo>
                    <a:lnTo>
                      <a:pt x="10253" y="5408"/>
                    </a:lnTo>
                    <a:lnTo>
                      <a:pt x="10278" y="5140"/>
                    </a:lnTo>
                    <a:lnTo>
                      <a:pt x="10278" y="5140"/>
                    </a:lnTo>
                    <a:lnTo>
                      <a:pt x="10229" y="4604"/>
                    </a:lnTo>
                    <a:lnTo>
                      <a:pt x="10156" y="4093"/>
                    </a:lnTo>
                    <a:lnTo>
                      <a:pt x="10034" y="3605"/>
                    </a:lnTo>
                    <a:lnTo>
                      <a:pt x="9864" y="3143"/>
                    </a:lnTo>
                    <a:lnTo>
                      <a:pt x="9645" y="2680"/>
                    </a:lnTo>
                    <a:lnTo>
                      <a:pt x="9401" y="2266"/>
                    </a:lnTo>
                    <a:lnTo>
                      <a:pt x="9084" y="1876"/>
                    </a:lnTo>
                    <a:lnTo>
                      <a:pt x="8768" y="1511"/>
                    </a:lnTo>
                    <a:lnTo>
                      <a:pt x="8402" y="1170"/>
                    </a:lnTo>
                    <a:lnTo>
                      <a:pt x="8013" y="878"/>
                    </a:lnTo>
                    <a:lnTo>
                      <a:pt x="7574" y="634"/>
                    </a:lnTo>
                    <a:lnTo>
                      <a:pt x="7136" y="415"/>
                    </a:lnTo>
                    <a:lnTo>
                      <a:pt x="6673" y="244"/>
                    </a:lnTo>
                    <a:lnTo>
                      <a:pt x="6162" y="98"/>
                    </a:lnTo>
                    <a:lnTo>
                      <a:pt x="5675" y="25"/>
                    </a:lnTo>
                    <a:lnTo>
                      <a:pt x="5139" y="1"/>
                    </a:lnTo>
                    <a:lnTo>
                      <a:pt x="5139" y="1"/>
                    </a:lnTo>
                    <a:lnTo>
                      <a:pt x="4603" y="25"/>
                    </a:lnTo>
                    <a:lnTo>
                      <a:pt x="4116" y="98"/>
                    </a:lnTo>
                    <a:lnTo>
                      <a:pt x="3605" y="244"/>
                    </a:lnTo>
                    <a:lnTo>
                      <a:pt x="3142" y="415"/>
                    </a:lnTo>
                    <a:lnTo>
                      <a:pt x="2703" y="634"/>
                    </a:lnTo>
                    <a:lnTo>
                      <a:pt x="2265" y="878"/>
                    </a:lnTo>
                    <a:lnTo>
                      <a:pt x="1875" y="1170"/>
                    </a:lnTo>
                    <a:lnTo>
                      <a:pt x="1510" y="1511"/>
                    </a:lnTo>
                    <a:lnTo>
                      <a:pt x="1193" y="1876"/>
                    </a:lnTo>
                    <a:lnTo>
                      <a:pt x="877" y="2266"/>
                    </a:lnTo>
                    <a:lnTo>
                      <a:pt x="633" y="2680"/>
                    </a:lnTo>
                    <a:lnTo>
                      <a:pt x="414" y="3143"/>
                    </a:lnTo>
                    <a:lnTo>
                      <a:pt x="244" y="3605"/>
                    </a:lnTo>
                    <a:lnTo>
                      <a:pt x="122" y="4093"/>
                    </a:lnTo>
                    <a:lnTo>
                      <a:pt x="49" y="4604"/>
                    </a:lnTo>
                    <a:lnTo>
                      <a:pt x="0" y="5140"/>
                    </a:lnTo>
                    <a:lnTo>
                      <a:pt x="0" y="5140"/>
                    </a:lnTo>
                    <a:lnTo>
                      <a:pt x="24" y="5408"/>
                    </a:lnTo>
                    <a:lnTo>
                      <a:pt x="49" y="5676"/>
                    </a:lnTo>
                    <a:lnTo>
                      <a:pt x="122" y="6187"/>
                    </a:lnTo>
                    <a:lnTo>
                      <a:pt x="244" y="6674"/>
                    </a:lnTo>
                    <a:lnTo>
                      <a:pt x="414" y="7113"/>
                    </a:lnTo>
                    <a:lnTo>
                      <a:pt x="633" y="7551"/>
                    </a:lnTo>
                    <a:lnTo>
                      <a:pt x="852" y="7941"/>
                    </a:lnTo>
                    <a:lnTo>
                      <a:pt x="1096" y="8330"/>
                    </a:lnTo>
                    <a:lnTo>
                      <a:pt x="1364" y="8720"/>
                    </a:lnTo>
                    <a:lnTo>
                      <a:pt x="1900" y="9499"/>
                    </a:lnTo>
                    <a:lnTo>
                      <a:pt x="2143" y="9913"/>
                    </a:lnTo>
                    <a:lnTo>
                      <a:pt x="2387" y="10327"/>
                    </a:lnTo>
                    <a:lnTo>
                      <a:pt x="2606" y="10766"/>
                    </a:lnTo>
                    <a:lnTo>
                      <a:pt x="2801" y="11253"/>
                    </a:lnTo>
                    <a:lnTo>
                      <a:pt x="2971" y="11764"/>
                    </a:lnTo>
                    <a:lnTo>
                      <a:pt x="3093" y="12300"/>
                    </a:lnTo>
                  </a:path>
                </a:pathLst>
              </a:custGeom>
              <a:noFill/>
              <a:ln w="952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>
                <a:off x="6873825" y="2459275"/>
                <a:ext cx="35350" cy="166875"/>
              </a:xfrm>
              <a:custGeom>
                <a:avLst/>
                <a:gdLst/>
                <a:ahLst/>
                <a:cxnLst/>
                <a:rect l="l" t="t" r="r" b="b"/>
                <a:pathLst>
                  <a:path w="1414" h="6675" fill="none" extrusionOk="0">
                    <a:moveTo>
                      <a:pt x="1413" y="1"/>
                    </a:moveTo>
                    <a:lnTo>
                      <a:pt x="1413" y="1"/>
                    </a:lnTo>
                    <a:lnTo>
                      <a:pt x="829" y="2850"/>
                    </a:lnTo>
                    <a:lnTo>
                      <a:pt x="1" y="6674"/>
                    </a:lnTo>
                  </a:path>
                </a:pathLst>
              </a:custGeom>
              <a:noFill/>
              <a:ln w="952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" name="Google Shape;249;p11"/>
              <p:cNvSpPr/>
              <p:nvPr/>
            </p:nvSpPr>
            <p:spPr>
              <a:xfrm>
                <a:off x="6801975" y="2453200"/>
                <a:ext cx="90150" cy="19500"/>
              </a:xfrm>
              <a:custGeom>
                <a:avLst/>
                <a:gdLst/>
                <a:ahLst/>
                <a:cxnLst/>
                <a:rect l="l" t="t" r="r" b="b"/>
                <a:pathLst>
                  <a:path w="3606" h="780" fill="none" extrusionOk="0">
                    <a:moveTo>
                      <a:pt x="1" y="73"/>
                    </a:moveTo>
                    <a:lnTo>
                      <a:pt x="829" y="780"/>
                    </a:lnTo>
                    <a:lnTo>
                      <a:pt x="1657" y="73"/>
                    </a:lnTo>
                    <a:lnTo>
                      <a:pt x="1657" y="73"/>
                    </a:lnTo>
                    <a:lnTo>
                      <a:pt x="1730" y="25"/>
                    </a:lnTo>
                    <a:lnTo>
                      <a:pt x="1803" y="0"/>
                    </a:lnTo>
                    <a:lnTo>
                      <a:pt x="1876" y="25"/>
                    </a:lnTo>
                    <a:lnTo>
                      <a:pt x="1949" y="73"/>
                    </a:lnTo>
                    <a:lnTo>
                      <a:pt x="2777" y="780"/>
                    </a:lnTo>
                    <a:lnTo>
                      <a:pt x="3605" y="73"/>
                    </a:lnTo>
                  </a:path>
                </a:pathLst>
              </a:custGeom>
              <a:noFill/>
              <a:ln w="952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" name="Google Shape;250;p11"/>
              <p:cNvSpPr/>
              <p:nvPr/>
            </p:nvSpPr>
            <p:spPr>
              <a:xfrm>
                <a:off x="6795900" y="2628550"/>
                <a:ext cx="1023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4092" h="1" fill="none" extrusionOk="0">
                    <a:moveTo>
                      <a:pt x="0" y="1"/>
                    </a:moveTo>
                    <a:lnTo>
                      <a:pt x="4092" y="1"/>
                    </a:lnTo>
                  </a:path>
                </a:pathLst>
              </a:custGeom>
              <a:noFill/>
              <a:ln w="952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51" name="Google Shape;251;p11"/>
          <p:cNvSpPr txBox="1"/>
          <p:nvPr/>
        </p:nvSpPr>
        <p:spPr>
          <a:xfrm>
            <a:off x="9115948" y="5696716"/>
            <a:ext cx="1409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Card Sorting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1"/>
          <p:cNvSpPr txBox="1"/>
          <p:nvPr/>
        </p:nvSpPr>
        <p:spPr>
          <a:xfrm>
            <a:off x="2045061" y="5647423"/>
            <a:ext cx="19843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Customer Journey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" name="Google Shape;253;p11">
            <a:hlinkClick r:id="rId3" action="ppaction://hlinksldjump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09470" y="2558213"/>
            <a:ext cx="3048000" cy="1714500"/>
          </a:xfrm>
          <a:prstGeom prst="rect">
            <a:avLst/>
          </a:prstGeom>
          <a:noFill/>
          <a:ln w="9525" cap="flat" cmpd="sng">
            <a:solidFill>
              <a:srgbClr val="D3D3D3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54" name="Google Shape;254;p11">
            <a:hlinkClick r:id="rId5" action="ppaction://hlinksldjump"/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51743" y="2558213"/>
            <a:ext cx="3048000" cy="1714500"/>
          </a:xfrm>
          <a:prstGeom prst="rect">
            <a:avLst/>
          </a:prstGeom>
          <a:noFill/>
          <a:ln w="9525" cap="flat" cmpd="sng">
            <a:solidFill>
              <a:srgbClr val="D3D3D3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Shape 258">
          <a:extLst>
            <a:ext uri="{FF2B5EF4-FFF2-40B4-BE49-F238E27FC236}">
              <a16:creationId xmlns:a16="http://schemas.microsoft.com/office/drawing/2014/main" id="{9F97D35E-1DD6-32AD-09D8-1BAF1CF45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">
            <a:extLst>
              <a:ext uri="{FF2B5EF4-FFF2-40B4-BE49-F238E27FC236}">
                <a16:creationId xmlns:a16="http://schemas.microsoft.com/office/drawing/2014/main" id="{A87ED166-F651-C954-F1F1-E49A61BB5DB7}"/>
              </a:ext>
            </a:extLst>
          </p:cNvPr>
          <p:cNvSpPr/>
          <p:nvPr/>
        </p:nvSpPr>
        <p:spPr>
          <a:xfrm>
            <a:off x="165116" y="0"/>
            <a:ext cx="11861770" cy="685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>
            <a:extLst>
              <a:ext uri="{FF2B5EF4-FFF2-40B4-BE49-F238E27FC236}">
                <a16:creationId xmlns:a16="http://schemas.microsoft.com/office/drawing/2014/main" id="{CD384437-39C6-37C1-BFBF-5D532B9A52E2}"/>
              </a:ext>
            </a:extLst>
          </p:cNvPr>
          <p:cNvSpPr/>
          <p:nvPr/>
        </p:nvSpPr>
        <p:spPr>
          <a:xfrm rot="-5400000">
            <a:off x="1457704" y="484015"/>
            <a:ext cx="685800" cy="2035442"/>
          </a:xfrm>
          <a:prstGeom prst="flowChartOffpageConnector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2">
            <a:extLst>
              <a:ext uri="{FF2B5EF4-FFF2-40B4-BE49-F238E27FC236}">
                <a16:creationId xmlns:a16="http://schemas.microsoft.com/office/drawing/2014/main" id="{E0B3EFFD-FF72-C16B-B801-310CE59EB9C2}"/>
              </a:ext>
            </a:extLst>
          </p:cNvPr>
          <p:cNvSpPr txBox="1"/>
          <p:nvPr/>
        </p:nvSpPr>
        <p:spPr>
          <a:xfrm>
            <a:off x="782879" y="1158821"/>
            <a:ext cx="1628354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1219170">
              <a:buClrTx/>
            </a:pPr>
            <a:r>
              <a:rPr lang="en-US" sz="1800" b="1" kern="1200" dirty="0">
                <a:solidFill>
                  <a:srgbClr val="FFFFFF"/>
                </a:solidFill>
                <a:latin typeface="Calibri" panose="020F0502020204030204"/>
              </a:rPr>
              <a:t>Log in to</a:t>
            </a:r>
            <a:endParaRPr lang="en-US" sz="1800" kern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>
              <a:buClrTx/>
            </a:pPr>
            <a:r>
              <a:rPr lang="en-US" sz="1800" b="1" kern="1200" dirty="0">
                <a:solidFill>
                  <a:srgbClr val="FFFFFF"/>
                </a:solidFill>
                <a:latin typeface="Calibri" panose="020F0502020204030204"/>
              </a:rPr>
              <a:t>the system</a:t>
            </a:r>
            <a:endParaRPr lang="en-US" sz="180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2" name="Google Shape;262;p12">
            <a:extLst>
              <a:ext uri="{FF2B5EF4-FFF2-40B4-BE49-F238E27FC236}">
                <a16:creationId xmlns:a16="http://schemas.microsoft.com/office/drawing/2014/main" id="{EB35D734-8E54-7289-15BC-92B8C13668B7}"/>
              </a:ext>
            </a:extLst>
          </p:cNvPr>
          <p:cNvSpPr/>
          <p:nvPr/>
        </p:nvSpPr>
        <p:spPr>
          <a:xfrm rot="-5400000">
            <a:off x="3481666" y="569932"/>
            <a:ext cx="685800" cy="1863608"/>
          </a:xfrm>
          <a:prstGeom prst="flowChartOffpageConnector">
            <a:avLst/>
          </a:prstGeom>
          <a:solidFill>
            <a:srgbClr val="E91F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2">
            <a:extLst>
              <a:ext uri="{FF2B5EF4-FFF2-40B4-BE49-F238E27FC236}">
                <a16:creationId xmlns:a16="http://schemas.microsoft.com/office/drawing/2014/main" id="{DE20DC60-AEA9-5455-1B2C-8DD1DC162D37}"/>
              </a:ext>
            </a:extLst>
          </p:cNvPr>
          <p:cNvSpPr txBox="1"/>
          <p:nvPr/>
        </p:nvSpPr>
        <p:spPr>
          <a:xfrm>
            <a:off x="2892746" y="1158829"/>
            <a:ext cx="1490886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1219170">
              <a:buClrTx/>
            </a:pPr>
            <a:r>
              <a:rPr lang="en-US" sz="1800" b="1" kern="1200" dirty="0">
                <a:solidFill>
                  <a:srgbClr val="FFFFFF"/>
                </a:solidFill>
                <a:latin typeface="Calibri" panose="020F0502020204030204"/>
              </a:rPr>
              <a:t>Take the</a:t>
            </a:r>
            <a:endParaRPr lang="en-US" sz="1800" kern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>
              <a:buClrTx/>
            </a:pPr>
            <a:r>
              <a:rPr lang="en-US" sz="1800" b="1" kern="1200" dirty="0">
                <a:solidFill>
                  <a:srgbClr val="FFFFFF"/>
                </a:solidFill>
                <a:latin typeface="Calibri" panose="020F0502020204030204"/>
              </a:rPr>
              <a:t>TEST</a:t>
            </a:r>
            <a:endParaRPr lang="en-US" sz="180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4" name="Google Shape;264;p12">
            <a:extLst>
              <a:ext uri="{FF2B5EF4-FFF2-40B4-BE49-F238E27FC236}">
                <a16:creationId xmlns:a16="http://schemas.microsoft.com/office/drawing/2014/main" id="{7361122D-FEE7-3A49-AA76-66A0749AC3B0}"/>
              </a:ext>
            </a:extLst>
          </p:cNvPr>
          <p:cNvSpPr/>
          <p:nvPr/>
        </p:nvSpPr>
        <p:spPr>
          <a:xfrm rot="-5400000">
            <a:off x="5454480" y="579124"/>
            <a:ext cx="685800" cy="1828801"/>
          </a:xfrm>
          <a:prstGeom prst="flowChartOffpageConnector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2">
            <a:extLst>
              <a:ext uri="{FF2B5EF4-FFF2-40B4-BE49-F238E27FC236}">
                <a16:creationId xmlns:a16="http://schemas.microsoft.com/office/drawing/2014/main" id="{2463C5D6-AFE1-4419-DCC1-ED9293A697E9}"/>
              </a:ext>
            </a:extLst>
          </p:cNvPr>
          <p:cNvSpPr txBox="1"/>
          <p:nvPr/>
        </p:nvSpPr>
        <p:spPr>
          <a:xfrm>
            <a:off x="4882974" y="1150601"/>
            <a:ext cx="1463041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1219170">
              <a:buClrTx/>
            </a:pPr>
            <a:r>
              <a:rPr lang="en-US" sz="1800" b="1" kern="1200" dirty="0">
                <a:solidFill>
                  <a:srgbClr val="FFFFFF"/>
                </a:solidFill>
                <a:latin typeface="Calibri" panose="020F0502020204030204"/>
              </a:rPr>
              <a:t>Complete</a:t>
            </a:r>
            <a:endParaRPr lang="en-US" sz="1800" kern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>
              <a:buClrTx/>
            </a:pPr>
            <a:r>
              <a:rPr lang="en-US" sz="1800" b="1" kern="1200" dirty="0">
                <a:solidFill>
                  <a:srgbClr val="FFFFFF"/>
                </a:solidFill>
                <a:latin typeface="Calibri" panose="020F0502020204030204"/>
              </a:rPr>
              <a:t>the TEST</a:t>
            </a:r>
            <a:endParaRPr lang="en-US" sz="180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6" name="Google Shape;266;p12">
            <a:extLst>
              <a:ext uri="{FF2B5EF4-FFF2-40B4-BE49-F238E27FC236}">
                <a16:creationId xmlns:a16="http://schemas.microsoft.com/office/drawing/2014/main" id="{C539C738-FB05-90F1-5993-7A1DA20CF3D2}"/>
              </a:ext>
            </a:extLst>
          </p:cNvPr>
          <p:cNvSpPr/>
          <p:nvPr/>
        </p:nvSpPr>
        <p:spPr>
          <a:xfrm rot="5400000">
            <a:off x="5365089" y="3584621"/>
            <a:ext cx="685800" cy="1903238"/>
          </a:xfrm>
          <a:prstGeom prst="flowChartOffpageConnector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2">
            <a:extLst>
              <a:ext uri="{FF2B5EF4-FFF2-40B4-BE49-F238E27FC236}">
                <a16:creationId xmlns:a16="http://schemas.microsoft.com/office/drawing/2014/main" id="{2D54E978-B9F0-B8B5-33D4-6172131BBA3A}"/>
              </a:ext>
            </a:extLst>
          </p:cNvPr>
          <p:cNvSpPr txBox="1"/>
          <p:nvPr/>
        </p:nvSpPr>
        <p:spPr>
          <a:xfrm>
            <a:off x="5312652" y="4193319"/>
            <a:ext cx="1346942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1219170">
              <a:buClrTx/>
            </a:pPr>
            <a:r>
              <a:rPr lang="en-US" sz="1800" b="1" kern="1200" dirty="0">
                <a:solidFill>
                  <a:srgbClr val="FFFFFF"/>
                </a:solidFill>
                <a:latin typeface="Calibri" panose="020F0502020204030204"/>
              </a:rPr>
              <a:t>Begin</a:t>
            </a:r>
            <a:endParaRPr lang="en-US" sz="1800" kern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>
              <a:buClrTx/>
            </a:pPr>
            <a:r>
              <a:rPr lang="en-US" sz="1800" b="1" kern="1200" dirty="0">
                <a:solidFill>
                  <a:srgbClr val="FFFFFF"/>
                </a:solidFill>
                <a:latin typeface="Calibri" panose="020F0502020204030204"/>
              </a:rPr>
              <a:t>counseling</a:t>
            </a:r>
            <a:endParaRPr lang="en-US" sz="1800" kern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>
              <a:buClrTx/>
            </a:pPr>
            <a:r>
              <a:rPr lang="en-US" sz="1800" b="1" kern="1200" dirty="0">
                <a:solidFill>
                  <a:srgbClr val="FFFFFF"/>
                </a:solidFill>
                <a:latin typeface="Calibri" panose="020F0502020204030204"/>
              </a:rPr>
              <a:t>session</a:t>
            </a:r>
            <a:endParaRPr lang="en-US" sz="180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8" name="Google Shape;268;p12">
            <a:extLst>
              <a:ext uri="{FF2B5EF4-FFF2-40B4-BE49-F238E27FC236}">
                <a16:creationId xmlns:a16="http://schemas.microsoft.com/office/drawing/2014/main" id="{5E2C1A09-A0E2-22E4-30AA-639E583DA941}"/>
              </a:ext>
            </a:extLst>
          </p:cNvPr>
          <p:cNvSpPr/>
          <p:nvPr/>
        </p:nvSpPr>
        <p:spPr>
          <a:xfrm rot="5400000">
            <a:off x="3444447" y="3573862"/>
            <a:ext cx="685800" cy="1938046"/>
          </a:xfrm>
          <a:prstGeom prst="flowChartOffpageConnector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2">
            <a:extLst>
              <a:ext uri="{FF2B5EF4-FFF2-40B4-BE49-F238E27FC236}">
                <a16:creationId xmlns:a16="http://schemas.microsoft.com/office/drawing/2014/main" id="{5E134164-9C7F-E7BD-6D0E-338C3AF16F00}"/>
              </a:ext>
            </a:extLst>
          </p:cNvPr>
          <p:cNvSpPr txBox="1"/>
          <p:nvPr/>
        </p:nvSpPr>
        <p:spPr>
          <a:xfrm>
            <a:off x="3205911" y="4199973"/>
            <a:ext cx="1550437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1219170">
              <a:buClrTx/>
            </a:pPr>
            <a:r>
              <a:rPr lang="en-US" sz="1800" b="1" kern="1200" dirty="0">
                <a:solidFill>
                  <a:srgbClr val="FFFFFF"/>
                </a:solidFill>
                <a:latin typeface="Calibri" panose="020F0502020204030204"/>
              </a:rPr>
              <a:t>End call</a:t>
            </a:r>
            <a:endParaRPr lang="en-US" sz="1800" kern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>
              <a:buClrTx/>
            </a:pPr>
            <a:r>
              <a:rPr lang="en-US" sz="1800" b="1" kern="1200" dirty="0">
                <a:solidFill>
                  <a:srgbClr val="FFFFFF"/>
                </a:solidFill>
                <a:latin typeface="Calibri" panose="020F0502020204030204"/>
              </a:rPr>
              <a:t>&amp; rate</a:t>
            </a:r>
            <a:endParaRPr lang="en-US" sz="180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0" name="Google Shape;270;p12">
            <a:extLst>
              <a:ext uri="{FF2B5EF4-FFF2-40B4-BE49-F238E27FC236}">
                <a16:creationId xmlns:a16="http://schemas.microsoft.com/office/drawing/2014/main" id="{B69E20E5-DC51-B7ED-61C5-B132A1858A69}"/>
              </a:ext>
            </a:extLst>
          </p:cNvPr>
          <p:cNvSpPr/>
          <p:nvPr/>
        </p:nvSpPr>
        <p:spPr>
          <a:xfrm rot="-5400000">
            <a:off x="7681387" y="211495"/>
            <a:ext cx="685800" cy="2580482"/>
          </a:xfrm>
          <a:prstGeom prst="flowChartOffpageConnector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2">
            <a:extLst>
              <a:ext uri="{FF2B5EF4-FFF2-40B4-BE49-F238E27FC236}">
                <a16:creationId xmlns:a16="http://schemas.microsoft.com/office/drawing/2014/main" id="{2069CC66-D997-4B5C-92B5-B3FCCC86BD90}"/>
              </a:ext>
            </a:extLst>
          </p:cNvPr>
          <p:cNvSpPr txBox="1"/>
          <p:nvPr/>
        </p:nvSpPr>
        <p:spPr>
          <a:xfrm>
            <a:off x="6734034" y="1158816"/>
            <a:ext cx="234482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1219170">
              <a:buClrTx/>
            </a:pPr>
            <a:r>
              <a:rPr lang="en-US" sz="1800" b="1" kern="1200" dirty="0">
                <a:solidFill>
                  <a:srgbClr val="FFFFFF"/>
                </a:solidFill>
                <a:latin typeface="Calibri" panose="020F0502020204030204"/>
              </a:rPr>
              <a:t>View</a:t>
            </a:r>
            <a:endParaRPr lang="en-US" sz="1800" kern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>
              <a:buClrTx/>
            </a:pPr>
            <a:r>
              <a:rPr lang="en-US" sz="1800" b="1" kern="1200" dirty="0">
                <a:solidFill>
                  <a:srgbClr val="FFFFFF"/>
                </a:solidFill>
                <a:latin typeface="Calibri" panose="020F0502020204030204"/>
              </a:rPr>
              <a:t>recommended results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2">
            <a:extLst>
              <a:ext uri="{FF2B5EF4-FFF2-40B4-BE49-F238E27FC236}">
                <a16:creationId xmlns:a16="http://schemas.microsoft.com/office/drawing/2014/main" id="{47321F60-AC9E-7C08-8D2F-555067A9DF16}"/>
              </a:ext>
            </a:extLst>
          </p:cNvPr>
          <p:cNvSpPr/>
          <p:nvPr/>
        </p:nvSpPr>
        <p:spPr>
          <a:xfrm rot="-5400000">
            <a:off x="9990182" y="483182"/>
            <a:ext cx="685800" cy="2037108"/>
          </a:xfrm>
          <a:prstGeom prst="flowChartOffpageConnector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2">
            <a:extLst>
              <a:ext uri="{FF2B5EF4-FFF2-40B4-BE49-F238E27FC236}">
                <a16:creationId xmlns:a16="http://schemas.microsoft.com/office/drawing/2014/main" id="{C400BD35-E315-6636-3D09-AEDADDC9703B}"/>
              </a:ext>
            </a:extLst>
          </p:cNvPr>
          <p:cNvSpPr txBox="1"/>
          <p:nvPr/>
        </p:nvSpPr>
        <p:spPr>
          <a:xfrm>
            <a:off x="9314521" y="1158829"/>
            <a:ext cx="1629686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1219170">
              <a:buClrTx/>
            </a:pPr>
            <a:r>
              <a:rPr lang="en-US" sz="1800" b="1" kern="1200" dirty="0">
                <a:solidFill>
                  <a:srgbClr val="FFFFFF"/>
                </a:solidFill>
                <a:latin typeface="Calibri" panose="020F0502020204030204"/>
              </a:rPr>
              <a:t>Choose service</a:t>
            </a:r>
            <a:endParaRPr lang="en-US" sz="1800" kern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>
              <a:buClrTx/>
            </a:pPr>
            <a:r>
              <a:rPr lang="en-US" sz="1800" b="1" kern="1200" dirty="0">
                <a:solidFill>
                  <a:srgbClr val="FFFFFF"/>
                </a:solidFill>
                <a:latin typeface="Calibri" panose="020F0502020204030204"/>
              </a:rPr>
              <a:t>&amp; payment</a:t>
            </a:r>
            <a:endParaRPr lang="en-US" sz="180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4" name="Google Shape;274;p12">
            <a:extLst>
              <a:ext uri="{FF2B5EF4-FFF2-40B4-BE49-F238E27FC236}">
                <a16:creationId xmlns:a16="http://schemas.microsoft.com/office/drawing/2014/main" id="{73B572E6-F1F5-8FE7-3692-744745554F34}"/>
              </a:ext>
            </a:extLst>
          </p:cNvPr>
          <p:cNvSpPr/>
          <p:nvPr/>
        </p:nvSpPr>
        <p:spPr>
          <a:xfrm rot="5400000">
            <a:off x="7253374" y="3621840"/>
            <a:ext cx="685800" cy="1828800"/>
          </a:xfrm>
          <a:prstGeom prst="flowChartOffpageConnector">
            <a:avLst/>
          </a:prstGeom>
          <a:solidFill>
            <a:srgbClr val="E91F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2">
            <a:extLst>
              <a:ext uri="{FF2B5EF4-FFF2-40B4-BE49-F238E27FC236}">
                <a16:creationId xmlns:a16="http://schemas.microsoft.com/office/drawing/2014/main" id="{ECBE3FF6-5F0B-DDC0-E6C0-21B24747DE38}"/>
              </a:ext>
            </a:extLst>
          </p:cNvPr>
          <p:cNvSpPr txBox="1"/>
          <p:nvPr/>
        </p:nvSpPr>
        <p:spPr>
          <a:xfrm>
            <a:off x="6757239" y="4292429"/>
            <a:ext cx="1775701" cy="579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1219170">
              <a:buClrTx/>
            </a:pPr>
            <a:r>
              <a:rPr lang="en-US" sz="1800" b="1" kern="1200" dirty="0">
                <a:solidFill>
                  <a:srgbClr val="FFFFFF"/>
                </a:solidFill>
                <a:latin typeface="Calibri" panose="020F0502020204030204"/>
              </a:rPr>
              <a:t>Move to</a:t>
            </a:r>
            <a:r>
              <a:rPr lang="vi-VN" sz="1800" kern="12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800" b="1" kern="1200" dirty="0">
                <a:solidFill>
                  <a:srgbClr val="FFFFFF"/>
                </a:solidFill>
                <a:latin typeface="Calibri" panose="020F0502020204030204"/>
              </a:rPr>
              <a:t>waiting</a:t>
            </a:r>
            <a:endParaRPr lang="en-US" sz="1800" kern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>
              <a:buClrTx/>
            </a:pPr>
            <a:r>
              <a:rPr lang="en-US" sz="1800" b="1" kern="1200" dirty="0">
                <a:solidFill>
                  <a:srgbClr val="FFFFFF"/>
                </a:solidFill>
                <a:latin typeface="Calibri" panose="020F0502020204030204"/>
              </a:rPr>
              <a:t>room</a:t>
            </a:r>
            <a:endParaRPr lang="en-US" sz="180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6" name="Google Shape;276;p12">
            <a:extLst>
              <a:ext uri="{FF2B5EF4-FFF2-40B4-BE49-F238E27FC236}">
                <a16:creationId xmlns:a16="http://schemas.microsoft.com/office/drawing/2014/main" id="{D4C64BC9-E3A4-A903-EB5D-6918450DEA16}"/>
              </a:ext>
            </a:extLst>
          </p:cNvPr>
          <p:cNvSpPr/>
          <p:nvPr/>
        </p:nvSpPr>
        <p:spPr>
          <a:xfrm rot="5400000">
            <a:off x="9588255" y="3122404"/>
            <a:ext cx="685800" cy="2840961"/>
          </a:xfrm>
          <a:prstGeom prst="flowChartOffpageConnector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2">
            <a:extLst>
              <a:ext uri="{FF2B5EF4-FFF2-40B4-BE49-F238E27FC236}">
                <a16:creationId xmlns:a16="http://schemas.microsoft.com/office/drawing/2014/main" id="{A1DD2B9A-998F-2C56-7540-7079C7ECAC16}"/>
              </a:ext>
            </a:extLst>
          </p:cNvPr>
          <p:cNvSpPr txBox="1"/>
          <p:nvPr/>
        </p:nvSpPr>
        <p:spPr>
          <a:xfrm>
            <a:off x="9066978" y="4199981"/>
            <a:ext cx="2284653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1219170">
              <a:buClrTx/>
            </a:pPr>
            <a:r>
              <a:rPr lang="en-US" sz="1800" b="1" kern="1200" dirty="0">
                <a:solidFill>
                  <a:srgbClr val="FFFFFF"/>
                </a:solidFill>
                <a:latin typeface="Calibri" panose="020F0502020204030204"/>
              </a:rPr>
              <a:t>Complete payment</a:t>
            </a:r>
            <a:endParaRPr lang="en-US" sz="1800" kern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>
              <a:buClrTx/>
            </a:pPr>
            <a:r>
              <a:rPr lang="en-US" sz="1800" b="1" kern="1200" dirty="0">
                <a:solidFill>
                  <a:srgbClr val="FFFFFF"/>
                </a:solidFill>
                <a:latin typeface="Calibri" panose="020F0502020204030204"/>
              </a:rPr>
              <a:t>&amp; prepare</a:t>
            </a:r>
            <a:r>
              <a:rPr lang="vi-VN" sz="1800" kern="12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800" b="1" kern="1200" dirty="0">
                <a:solidFill>
                  <a:srgbClr val="FFFFFF"/>
                </a:solidFill>
                <a:latin typeface="Calibri" panose="020F0502020204030204"/>
              </a:rPr>
              <a:t>to connect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2">
            <a:extLst>
              <a:ext uri="{FF2B5EF4-FFF2-40B4-BE49-F238E27FC236}">
                <a16:creationId xmlns:a16="http://schemas.microsoft.com/office/drawing/2014/main" id="{9E2744CA-4D5C-BEAA-CF37-F61E6160D2D7}"/>
              </a:ext>
            </a:extLst>
          </p:cNvPr>
          <p:cNvSpPr/>
          <p:nvPr/>
        </p:nvSpPr>
        <p:spPr>
          <a:xfrm>
            <a:off x="782881" y="4200129"/>
            <a:ext cx="2035443" cy="685800"/>
          </a:xfrm>
          <a:prstGeom prst="flowChartProcess">
            <a:avLst/>
          </a:prstGeom>
          <a:solidFill>
            <a:srgbClr val="00206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1219170">
              <a:buClrTx/>
            </a:pPr>
            <a:r>
              <a:rPr lang="en-US" sz="1800" b="1" kern="1200" dirty="0">
                <a:solidFill>
                  <a:srgbClr val="FFFFFF"/>
                </a:solidFill>
                <a:latin typeface="Calibri" panose="020F0502020204030204"/>
              </a:rPr>
              <a:t>Complete</a:t>
            </a:r>
            <a:r>
              <a:rPr lang="vi-VN" sz="1800" kern="12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800" b="1" kern="1200" dirty="0">
                <a:solidFill>
                  <a:srgbClr val="FFFFFF"/>
                </a:solidFill>
                <a:latin typeface="Calibri" panose="020F0502020204030204"/>
              </a:rPr>
              <a:t>review &amp;</a:t>
            </a:r>
            <a:endParaRPr lang="en-US" sz="1800" kern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>
              <a:buClrTx/>
            </a:pPr>
            <a:r>
              <a:rPr lang="en-US" sz="1800" b="1" kern="1200" dirty="0">
                <a:solidFill>
                  <a:srgbClr val="FFFFFF"/>
                </a:solidFill>
                <a:latin typeface="Calibri" panose="020F0502020204030204"/>
              </a:rPr>
              <a:t>await feedback</a:t>
            </a:r>
            <a:endParaRPr lang="en-US" sz="180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279" name="Google Shape;279;p12">
            <a:extLst>
              <a:ext uri="{FF2B5EF4-FFF2-40B4-BE49-F238E27FC236}">
                <a16:creationId xmlns:a16="http://schemas.microsoft.com/office/drawing/2014/main" id="{4BA45D5D-1734-F5BF-BC8D-0A6BBE265B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4459830"/>
              </p:ext>
            </p:extLst>
          </p:nvPr>
        </p:nvGraphicFramePr>
        <p:xfrm>
          <a:off x="364768" y="1863298"/>
          <a:ext cx="10986850" cy="2339070"/>
        </p:xfrm>
        <a:graphic>
          <a:graphicData uri="http://schemas.openxmlformats.org/drawingml/2006/table">
            <a:tbl>
              <a:tblPr firstRow="1" bandRow="1">
                <a:noFill/>
                <a:tableStyleId>{5F56F936-1EAE-4C9F-9BEE-47468C293F73}</a:tableStyleId>
              </a:tblPr>
              <a:tblGrid>
                <a:gridCol w="282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3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5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1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3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4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00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Elements</a:t>
                      </a:r>
                      <a:endParaRPr sz="1100" b="1" u="none" strike="noStrike" cap="none"/>
                    </a:p>
                  </a:txBody>
                  <a:tcPr marL="91450" marR="91450" marT="45725" marB="45725" anchor="ctr" anchorCtr="1"/>
                </a:tc>
                <a:tc>
                  <a:txBody>
                    <a:bodyPr/>
                    <a:lstStyle/>
                    <a:p>
                      <a:pPr marL="0" indent="0" defTabSz="1219170">
                        <a:buClrTx/>
                        <a:buSzPct val="100000"/>
                        <a:buFontTx/>
                        <a:buNone/>
                      </a:pPr>
                      <a:r>
                        <a:rPr lang="en-US" sz="1100" b="1" i="0" u="none" strike="noStrike" kern="1200" cap="none" dirty="0">
                          <a:solidFill>
                            <a:schemeClr val="tx1"/>
                          </a:solidFill>
                          <a:latin typeface="Calibri" panose="020F0502020204030204"/>
                          <a:ea typeface="Arial"/>
                          <a:cs typeface="Arial"/>
                          <a:sym typeface="Arial"/>
                        </a:rPr>
                        <a:t>Welcome message</a:t>
                      </a:r>
                    </a:p>
                  </a:txBody>
                  <a:tcPr marL="91450" marR="91450" marT="45725" marB="45725" anchor="ctr" anchorCtr="1"/>
                </a:tc>
                <a:tc>
                  <a:txBody>
                    <a:bodyPr/>
                    <a:lstStyle/>
                    <a:p>
                      <a:pPr marL="0" indent="0" defTabSz="1219170">
                        <a:buClrTx/>
                        <a:buSzPct val="100000"/>
                        <a:buFontTx/>
                        <a:buNone/>
                      </a:pPr>
                      <a:r>
                        <a:rPr lang="en-US" sz="1100" b="1" i="0" u="none" strike="noStrike" kern="1200" cap="none" dirty="0">
                          <a:solidFill>
                            <a:schemeClr val="tx1"/>
                          </a:solidFill>
                          <a:latin typeface="Calibri" panose="020F0502020204030204"/>
                          <a:ea typeface="Arial"/>
                          <a:cs typeface="Arial"/>
                          <a:sym typeface="Arial"/>
                        </a:rPr>
                        <a:t>Assessment questionnaire</a:t>
                      </a:r>
                    </a:p>
                  </a:txBody>
                  <a:tcPr marL="91450" marR="91450" marT="45725" marB="45725" anchor="ctr" anchorCtr="1"/>
                </a:tc>
                <a:tc>
                  <a:txBody>
                    <a:bodyPr/>
                    <a:lstStyle/>
                    <a:p>
                      <a:pPr marL="0" indent="0" defTabSz="1219170">
                        <a:buClrTx/>
                        <a:buSzPct val="100000"/>
                        <a:buFontTx/>
                        <a:buNone/>
                      </a:pPr>
                      <a:r>
                        <a:rPr lang="en-US" sz="1100" b="1" i="0" u="none" strike="noStrike" kern="1200" cap="none" dirty="0">
                          <a:solidFill>
                            <a:schemeClr val="tx1"/>
                          </a:solidFill>
                          <a:latin typeface="Calibri" panose="020F0502020204030204"/>
                          <a:ea typeface="Arial"/>
                          <a:cs typeface="Arial"/>
                          <a:sym typeface="Arial"/>
                        </a:rPr>
                        <a:t>Completion notification</a:t>
                      </a:r>
                    </a:p>
                  </a:txBody>
                  <a:tcPr marL="91450" marR="91450" marT="45725" marB="45725" anchor="ctr" anchorCtr="1"/>
                </a:tc>
                <a:tc>
                  <a:txBody>
                    <a:bodyPr/>
                    <a:lstStyle/>
                    <a:p>
                      <a:pPr marL="457189" indent="-457189" defTabSz="1219170">
                        <a:buClrTx/>
                        <a:buSzPct val="100000"/>
                        <a:buFontTx/>
                        <a:buChar char="•"/>
                      </a:pPr>
                      <a:r>
                        <a:rPr lang="en-US" sz="1100" b="1" i="0" u="none" strike="noStrike" kern="1200" cap="none" dirty="0">
                          <a:solidFill>
                            <a:schemeClr val="tx1"/>
                          </a:solidFill>
                          <a:latin typeface="Calibri" panose="020F0502020204030204"/>
                          <a:ea typeface="Arial"/>
                          <a:cs typeface="Arial"/>
                          <a:sym typeface="Arial"/>
                        </a:rPr>
                        <a:t>Recommended expert list</a:t>
                      </a:r>
                    </a:p>
                    <a:p>
                      <a:pPr marL="457189" indent="-457189" defTabSz="1219170">
                        <a:buClrTx/>
                        <a:buSzPct val="100000"/>
                        <a:buFontTx/>
                        <a:buChar char="•"/>
                      </a:pPr>
                      <a:r>
                        <a:rPr lang="en-US" sz="1100" b="1" i="0" u="none" strike="noStrike" kern="1200" cap="none" dirty="0">
                          <a:solidFill>
                            <a:schemeClr val="tx1"/>
                          </a:solidFill>
                          <a:latin typeface="Calibri" panose="020F0502020204030204"/>
                          <a:ea typeface="Arial"/>
                          <a:cs typeface="Arial"/>
                          <a:sym typeface="Arial"/>
                        </a:rPr>
                        <a:t>Page navigation</a:t>
                      </a:r>
                    </a:p>
                    <a:p>
                      <a:pPr marL="457189" indent="-457189" defTabSz="1219170">
                        <a:buClrTx/>
                        <a:buSzPct val="100000"/>
                        <a:buFontTx/>
                        <a:buChar char="•"/>
                      </a:pPr>
                      <a:r>
                        <a:rPr lang="en-US" sz="1100" b="1" i="0" u="none" strike="noStrike" kern="1200" cap="none" dirty="0">
                          <a:solidFill>
                            <a:schemeClr val="tx1"/>
                          </a:solidFill>
                          <a:latin typeface="Calibri" panose="020F0502020204030204"/>
                          <a:ea typeface="Arial"/>
                          <a:cs typeface="Arial"/>
                          <a:sym typeface="Arial"/>
                        </a:rPr>
                        <a:t>Expert avatar</a:t>
                      </a:r>
                    </a:p>
                    <a:p>
                      <a:pPr marL="457189" indent="-457189" defTabSz="1219170">
                        <a:buClrTx/>
                        <a:buSzPct val="100000"/>
                        <a:buFontTx/>
                        <a:buChar char="•"/>
                      </a:pPr>
                      <a:r>
                        <a:rPr lang="en-US" sz="1100" b="1" i="0" u="none" strike="noStrike" kern="1200" cap="none" dirty="0">
                          <a:solidFill>
                            <a:schemeClr val="tx1"/>
                          </a:solidFill>
                          <a:latin typeface="Calibri" panose="020F0502020204030204"/>
                          <a:ea typeface="Arial"/>
                          <a:cs typeface="Arial"/>
                          <a:sym typeface="Arial"/>
                        </a:rPr>
                        <a:t>Expert introduction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Char char="•"/>
                      </a:pPr>
                      <a:endParaRPr sz="110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 anchorCtr="1"/>
                </a:tc>
                <a:tc>
                  <a:txBody>
                    <a:bodyPr/>
                    <a:lstStyle/>
                    <a:p>
                      <a:pPr marL="457189" indent="-457189" defTabSz="1219170">
                        <a:buClrTx/>
                        <a:buSzPct val="100000"/>
                        <a:buFontTx/>
                        <a:buChar char="•"/>
                      </a:pPr>
                      <a:r>
                        <a:rPr lang="en-US" sz="1100" b="1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Arial"/>
                          <a:cs typeface="Arial"/>
                          <a:sym typeface="Arial"/>
                        </a:rPr>
                        <a:t>Service package info</a:t>
                      </a:r>
                    </a:p>
                    <a:p>
                      <a:pPr marL="457189" indent="-457189" defTabSz="1219170">
                        <a:buClrTx/>
                        <a:buSzPct val="100000"/>
                        <a:buFontTx/>
                        <a:buChar char="•"/>
                      </a:pPr>
                      <a:r>
                        <a:rPr lang="en-US" sz="1100" b="1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Arial"/>
                          <a:cs typeface="Arial"/>
                          <a:sym typeface="Arial"/>
                        </a:rPr>
                        <a:t>Payment methods</a:t>
                      </a:r>
                    </a:p>
                  </a:txBody>
                  <a:tcPr marL="91450" marR="91450" marT="45725" marB="45725" anchor="ctr" anchorCtr="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6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CTA</a:t>
                      </a:r>
                      <a:endParaRPr sz="11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 anchorCtr="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 anchor="ctr" anchorCtr="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 dirty="0"/>
                    </a:p>
                  </a:txBody>
                  <a:tcPr marL="91450" marR="91450" marT="45725" marB="45725" anchor="ctr" anchorCtr="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 anchor="ctr" anchorCtr="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 dirty="0"/>
                    </a:p>
                  </a:txBody>
                  <a:tcPr marL="91450" marR="91450" marT="45725" marB="45725" anchor="ctr" anchorCtr="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 dirty="0"/>
                    </a:p>
                  </a:txBody>
                  <a:tcPr marL="91450" marR="91450" marT="45725" marB="45725"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80" name="Google Shape;280;p12">
            <a:extLst>
              <a:ext uri="{FF2B5EF4-FFF2-40B4-BE49-F238E27FC236}">
                <a16:creationId xmlns:a16="http://schemas.microsoft.com/office/drawing/2014/main" id="{1DDCE036-F55D-3A91-AA70-F46D28C10BC7}"/>
              </a:ext>
            </a:extLst>
          </p:cNvPr>
          <p:cNvSpPr/>
          <p:nvPr/>
        </p:nvSpPr>
        <p:spPr>
          <a:xfrm>
            <a:off x="1202724" y="3005959"/>
            <a:ext cx="1195756" cy="405459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1219170">
              <a:buClrTx/>
            </a:pPr>
            <a:r>
              <a:rPr lang="en-US" b="1" kern="1200" dirty="0">
                <a:solidFill>
                  <a:schemeClr val="tx1"/>
                </a:solidFill>
                <a:latin typeface="Calibri" panose="020F0502020204030204"/>
              </a:rPr>
              <a:t>Take the TEST</a:t>
            </a:r>
            <a:endParaRPr lang="en-US" kern="1200" dirty="0">
              <a:solidFill>
                <a:schemeClr val="tx1"/>
              </a:solidFill>
              <a:latin typeface="Calibri" panose="020F0502020204030204"/>
            </a:endParaRPr>
          </a:p>
        </p:txBody>
      </p:sp>
      <p:graphicFrame>
        <p:nvGraphicFramePr>
          <p:cNvPr id="281" name="Google Shape;281;p12">
            <a:extLst>
              <a:ext uri="{FF2B5EF4-FFF2-40B4-BE49-F238E27FC236}">
                <a16:creationId xmlns:a16="http://schemas.microsoft.com/office/drawing/2014/main" id="{09DAEB37-A609-6192-B753-1692ACA602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58046697"/>
              </p:ext>
            </p:extLst>
          </p:nvPr>
        </p:nvGraphicFramePr>
        <p:xfrm>
          <a:off x="364769" y="4975990"/>
          <a:ext cx="10986875" cy="1908390"/>
        </p:xfrm>
        <a:graphic>
          <a:graphicData uri="http://schemas.openxmlformats.org/drawingml/2006/table">
            <a:tbl>
              <a:tblPr firstRow="1" bandRow="1">
                <a:noFill/>
                <a:tableStyleId>{5F56F936-1EAE-4C9F-9BEE-47468C293F73}</a:tableStyleId>
              </a:tblPr>
              <a:tblGrid>
                <a:gridCol w="29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2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40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95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Elements</a:t>
                      </a:r>
                      <a:endParaRPr sz="1100" b="1" u="none" strike="noStrike" cap="none"/>
                    </a:p>
                  </a:txBody>
                  <a:tcPr marL="91450" marR="91450" marT="45725" marB="45725" anchor="ctr" anchorCtr="1"/>
                </a:tc>
                <a:tc>
                  <a:txBody>
                    <a:bodyPr/>
                    <a:lstStyle/>
                    <a:p>
                      <a:pPr marL="457189" indent="-457189" defTabSz="1219170">
                        <a:buClrTx/>
                        <a:buSzPct val="100000"/>
                        <a:buFontTx/>
                        <a:buChar char="•"/>
                      </a:pPr>
                      <a:r>
                        <a:rPr lang="en-US" sz="1100" b="1" i="0" u="none" strike="noStrike" kern="1200" cap="none" dirty="0">
                          <a:solidFill>
                            <a:srgbClr val="212121"/>
                          </a:solidFill>
                          <a:latin typeface="+mn-lt"/>
                          <a:ea typeface="Arial"/>
                          <a:cs typeface="Arial"/>
                          <a:sym typeface="Arial"/>
                        </a:rPr>
                        <a:t>Thank you message (if rated)</a:t>
                      </a:r>
                      <a:endParaRPr lang="en-US" sz="1100" b="1" i="0" u="none" strike="noStrike" kern="1200" cap="none" dirty="0">
                        <a:solidFill>
                          <a:prstClr val="black"/>
                        </a:solidFill>
                        <a:latin typeface="+mn-lt"/>
                        <a:ea typeface="Arial"/>
                        <a:cs typeface="Arial"/>
                        <a:sym typeface="Arial"/>
                      </a:endParaRPr>
                    </a:p>
                    <a:p>
                      <a:pPr marL="457189" indent="-457189" defTabSz="1219170">
                        <a:buClrTx/>
                        <a:buSzPct val="100000"/>
                        <a:buFontTx/>
                        <a:buChar char="•"/>
                      </a:pPr>
                      <a:r>
                        <a:rPr lang="en-US" sz="1100" b="1" i="0" u="none" strike="noStrike" kern="1200" cap="none" dirty="0">
                          <a:solidFill>
                            <a:srgbClr val="212121"/>
                          </a:solidFill>
                          <a:latin typeface="+mn-lt"/>
                          <a:ea typeface="Arial"/>
                          <a:cs typeface="Arial"/>
                          <a:sym typeface="Arial"/>
                        </a:rPr>
                        <a:t>Feedback timeline notification</a:t>
                      </a:r>
                      <a:endParaRPr lang="en-US" sz="1100" b="1" i="0" u="none" strike="noStrike" kern="1200" cap="none" dirty="0">
                        <a:solidFill>
                          <a:prstClr val="black"/>
                        </a:solidFill>
                        <a:latin typeface="+mn-lt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/>
                </a:tc>
                <a:tc>
                  <a:txBody>
                    <a:bodyPr/>
                    <a:lstStyle/>
                    <a:p>
                      <a:pPr marL="457189" indent="-457189" defTabSz="1219170">
                        <a:buClrTx/>
                        <a:buSzPct val="100000"/>
                        <a:buFontTx/>
                        <a:buChar char="•"/>
                      </a:pPr>
                      <a:r>
                        <a:rPr lang="en-US" sz="1100" b="1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Arial"/>
                          <a:cs typeface="Arial"/>
                          <a:sym typeface="Arial"/>
                        </a:rPr>
                        <a:t>Star rating scale</a:t>
                      </a:r>
                    </a:p>
                    <a:p>
                      <a:pPr marL="457189" indent="-457189" defTabSz="1219170">
                        <a:buClrTx/>
                        <a:buSzPct val="100000"/>
                        <a:buFontTx/>
                        <a:buChar char="•"/>
                      </a:pPr>
                      <a:r>
                        <a:rPr lang="en-US" sz="1100" b="1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Arial"/>
                          <a:cs typeface="Arial"/>
                          <a:sym typeface="Arial"/>
                        </a:rPr>
                        <a:t>Comment box</a:t>
                      </a:r>
                    </a:p>
                  </a:txBody>
                  <a:tcPr marL="91450" marR="91450" marT="45725" marB="45725" anchor="ctr" anchorCtr="1"/>
                </a:tc>
                <a:tc>
                  <a:txBody>
                    <a:bodyPr/>
                    <a:lstStyle/>
                    <a:p>
                      <a:pPr marL="457189" indent="-457189" defTabSz="1219170">
                        <a:buClrTx/>
                        <a:buSzPct val="100000"/>
                        <a:buFontTx/>
                        <a:buChar char="•"/>
                      </a:pPr>
                      <a:r>
                        <a:rPr lang="en-US" sz="1100" b="1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Arial"/>
                          <a:cs typeface="Arial"/>
                          <a:sym typeface="Arial"/>
                        </a:rPr>
                        <a:t>Video call screen</a:t>
                      </a:r>
                    </a:p>
                    <a:p>
                      <a:pPr marL="457189" indent="-457189" defTabSz="1219170">
                        <a:buClrTx/>
                        <a:buSzPct val="100000"/>
                        <a:buFontTx/>
                        <a:buChar char="•"/>
                      </a:pPr>
                      <a:r>
                        <a:rPr lang="en-US" sz="1100" b="1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Arial"/>
                          <a:cs typeface="Arial"/>
                          <a:sym typeface="Arial"/>
                        </a:rPr>
                        <a:t>Chat panel</a:t>
                      </a:r>
                    </a:p>
                    <a:p>
                      <a:pPr marL="457189" indent="-457189" defTabSz="1219170">
                        <a:buClrTx/>
                        <a:buSzPct val="100000"/>
                        <a:buFontTx/>
                        <a:buChar char="•"/>
                      </a:pPr>
                      <a:r>
                        <a:rPr lang="en-US" sz="1100" b="1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Arial"/>
                          <a:cs typeface="Arial"/>
                          <a:sym typeface="Arial"/>
                        </a:rPr>
                        <a:t>Call controls</a:t>
                      </a:r>
                    </a:p>
                  </a:txBody>
                  <a:tcPr marL="91450" marR="91450" marT="45725" marB="45725" anchor="ctr" anchorCtr="1"/>
                </a:tc>
                <a:tc>
                  <a:txBody>
                    <a:bodyPr/>
                    <a:lstStyle/>
                    <a:p>
                      <a:pPr marL="457189" indent="-457189" defTabSz="1219170">
                        <a:buClrTx/>
                        <a:buSzPct val="100000"/>
                        <a:buFontTx/>
                        <a:buChar char="•"/>
                      </a:pPr>
                      <a:r>
                        <a:rPr lang="en-US" sz="1100" b="1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Arial"/>
                          <a:cs typeface="Arial"/>
                          <a:sym typeface="Arial"/>
                        </a:rPr>
                        <a:t>Waiting status notification</a:t>
                      </a:r>
                    </a:p>
                  </a:txBody>
                  <a:tcPr marL="91450" marR="91450" marT="45725" marB="45725" anchor="ctr" anchorCtr="1"/>
                </a:tc>
                <a:tc>
                  <a:txBody>
                    <a:bodyPr/>
                    <a:lstStyle/>
                    <a:p>
                      <a:pPr marL="457189" indent="-457189" defTabSz="1219170">
                        <a:buClrTx/>
                        <a:buSzPct val="100000"/>
                        <a:buFontTx/>
                        <a:buChar char="•"/>
                      </a:pPr>
                      <a:r>
                        <a:rPr lang="en-US" sz="1100" b="1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Arial"/>
                          <a:cs typeface="Arial"/>
                          <a:sym typeface="Arial"/>
                        </a:rPr>
                        <a:t>Payment success notification</a:t>
                      </a:r>
                    </a:p>
                    <a:p>
                      <a:pPr marL="457189" indent="-457189" defTabSz="1219170">
                        <a:buClrTx/>
                        <a:buSzPct val="100000"/>
                        <a:buFontTx/>
                        <a:buChar char="•"/>
                      </a:pPr>
                      <a:r>
                        <a:rPr lang="en-US" sz="1100" b="1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Arial"/>
                          <a:cs typeface="Arial"/>
                          <a:sym typeface="Arial"/>
                        </a:rPr>
                        <a:t>Selected expert info</a:t>
                      </a:r>
                    </a:p>
                  </a:txBody>
                  <a:tcPr marL="91450" marR="91450" marT="45725" marB="45725" anchor="ctr" anchorCtr="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CTA</a:t>
                      </a:r>
                      <a:endParaRPr sz="11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 anchorCtr="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 anchor="ctr" anchorCtr="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 dirty="0"/>
                    </a:p>
                  </a:txBody>
                  <a:tcPr marL="91450" marR="91450" marT="45725" marB="45725" anchor="ctr" anchorCtr="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 anchor="ctr" anchorCtr="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</a:rPr>
                        <a:t>N/A</a:t>
                      </a:r>
                      <a:endParaRPr sz="1400" u="none" strike="noStrike" cap="none"/>
                    </a:p>
                  </a:txBody>
                  <a:tcPr marL="91450" marR="91450" marT="45725" marB="45725" anchor="ctr" anchorCtr="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 dirty="0"/>
                    </a:p>
                  </a:txBody>
                  <a:tcPr marL="91450" marR="91450" marT="45725" marB="45725"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82" name="Google Shape;282;p12">
            <a:extLst>
              <a:ext uri="{FF2B5EF4-FFF2-40B4-BE49-F238E27FC236}">
                <a16:creationId xmlns:a16="http://schemas.microsoft.com/office/drawing/2014/main" id="{72D3B512-C9DC-556C-93E1-D04F74DAA4C8}"/>
              </a:ext>
            </a:extLst>
          </p:cNvPr>
          <p:cNvSpPr/>
          <p:nvPr/>
        </p:nvSpPr>
        <p:spPr>
          <a:xfrm>
            <a:off x="3460653" y="6346343"/>
            <a:ext cx="833946" cy="26548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1219170">
              <a:buClrTx/>
            </a:pPr>
            <a:r>
              <a:rPr lang="en-US" b="1" kern="1200" dirty="0">
                <a:solidFill>
                  <a:schemeClr val="tx1"/>
                </a:solidFill>
                <a:latin typeface="Calibri" panose="020F0502020204030204"/>
              </a:rPr>
              <a:t>Skip</a:t>
            </a:r>
            <a:endParaRPr lang="en-US" kern="1200" dirty="0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283" name="Google Shape;283;p12">
            <a:extLst>
              <a:ext uri="{FF2B5EF4-FFF2-40B4-BE49-F238E27FC236}">
                <a16:creationId xmlns:a16="http://schemas.microsoft.com/office/drawing/2014/main" id="{1F744C2F-D2D9-AC7D-2FA5-EBAA52698714}"/>
              </a:ext>
            </a:extLst>
          </p:cNvPr>
          <p:cNvSpPr/>
          <p:nvPr/>
        </p:nvSpPr>
        <p:spPr>
          <a:xfrm>
            <a:off x="3223457" y="2901744"/>
            <a:ext cx="1195756" cy="23915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vi-VN" sz="1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2">
            <a:extLst>
              <a:ext uri="{FF2B5EF4-FFF2-40B4-BE49-F238E27FC236}">
                <a16:creationId xmlns:a16="http://schemas.microsoft.com/office/drawing/2014/main" id="{9C170A19-DAB5-2BBC-DD01-EF53B14D42B6}"/>
              </a:ext>
            </a:extLst>
          </p:cNvPr>
          <p:cNvSpPr/>
          <p:nvPr/>
        </p:nvSpPr>
        <p:spPr>
          <a:xfrm>
            <a:off x="3223457" y="3162765"/>
            <a:ext cx="1195756" cy="23915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vi-VN" sz="1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2">
            <a:extLst>
              <a:ext uri="{FF2B5EF4-FFF2-40B4-BE49-F238E27FC236}">
                <a16:creationId xmlns:a16="http://schemas.microsoft.com/office/drawing/2014/main" id="{6880969F-9C95-0CE5-02DC-D9C16E0CF4E6}"/>
              </a:ext>
            </a:extLst>
          </p:cNvPr>
          <p:cNvSpPr/>
          <p:nvPr/>
        </p:nvSpPr>
        <p:spPr>
          <a:xfrm>
            <a:off x="5147330" y="3162765"/>
            <a:ext cx="1195756" cy="23915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vi-VN" sz="1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View Results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2">
            <a:extLst>
              <a:ext uri="{FF2B5EF4-FFF2-40B4-BE49-F238E27FC236}">
                <a16:creationId xmlns:a16="http://schemas.microsoft.com/office/drawing/2014/main" id="{641C769D-A8B2-6C6A-BB4A-7F2E3B2F21FD}"/>
              </a:ext>
            </a:extLst>
          </p:cNvPr>
          <p:cNvSpPr/>
          <p:nvPr/>
        </p:nvSpPr>
        <p:spPr>
          <a:xfrm>
            <a:off x="7426409" y="3162765"/>
            <a:ext cx="1195756" cy="23915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1219170">
              <a:buClrTx/>
            </a:pPr>
            <a:r>
              <a:rPr lang="en-US" b="1" kern="1200" dirty="0">
                <a:solidFill>
                  <a:schemeClr val="tx1"/>
                </a:solidFill>
                <a:latin typeface="Calibri" panose="020F0502020204030204"/>
              </a:rPr>
              <a:t>Connect now</a:t>
            </a:r>
            <a:endParaRPr lang="en-US" kern="1200" dirty="0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287" name="Google Shape;287;p12">
            <a:extLst>
              <a:ext uri="{FF2B5EF4-FFF2-40B4-BE49-F238E27FC236}">
                <a16:creationId xmlns:a16="http://schemas.microsoft.com/office/drawing/2014/main" id="{78DD5F2B-8CDB-625E-E411-7A5917AD1FEF}"/>
              </a:ext>
            </a:extLst>
          </p:cNvPr>
          <p:cNvSpPr/>
          <p:nvPr/>
        </p:nvSpPr>
        <p:spPr>
          <a:xfrm>
            <a:off x="9735204" y="3162765"/>
            <a:ext cx="1195756" cy="23915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400"/>
            </a:pPr>
            <a:r>
              <a:rPr lang="en-US" b="1" kern="1200" dirty="0">
                <a:solidFill>
                  <a:schemeClr val="tx1"/>
                </a:solidFill>
                <a:latin typeface="Calibri" panose="020F0502020204030204"/>
              </a:rPr>
              <a:t>payment</a:t>
            </a:r>
            <a:endParaRPr sz="14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2">
            <a:extLst>
              <a:ext uri="{FF2B5EF4-FFF2-40B4-BE49-F238E27FC236}">
                <a16:creationId xmlns:a16="http://schemas.microsoft.com/office/drawing/2014/main" id="{A0D50346-D4F5-6417-181A-4BBB361A65A1}"/>
              </a:ext>
            </a:extLst>
          </p:cNvPr>
          <p:cNvSpPr/>
          <p:nvPr/>
        </p:nvSpPr>
        <p:spPr>
          <a:xfrm>
            <a:off x="4989069" y="6198665"/>
            <a:ext cx="1512278" cy="224144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vi-VN" sz="1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 call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2">
            <a:extLst>
              <a:ext uri="{FF2B5EF4-FFF2-40B4-BE49-F238E27FC236}">
                <a16:creationId xmlns:a16="http://schemas.microsoft.com/office/drawing/2014/main" id="{00F3498A-F1E2-4740-BD65-EF55E8453E6B}"/>
              </a:ext>
            </a:extLst>
          </p:cNvPr>
          <p:cNvSpPr/>
          <p:nvPr/>
        </p:nvSpPr>
        <p:spPr>
          <a:xfrm>
            <a:off x="1080182" y="5912629"/>
            <a:ext cx="1440838" cy="403459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1219170">
              <a:buClrTx/>
            </a:pPr>
            <a:r>
              <a:rPr lang="en-US" b="1" kern="1200" dirty="0">
                <a:solidFill>
                  <a:schemeClr val="tx1"/>
                </a:solidFill>
                <a:latin typeface="Calibri" panose="020F0502020204030204"/>
              </a:rPr>
              <a:t>Continue connecting</a:t>
            </a:r>
            <a:endParaRPr lang="en-US" kern="1200" dirty="0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290" name="Google Shape;290;p12">
            <a:extLst>
              <a:ext uri="{FF2B5EF4-FFF2-40B4-BE49-F238E27FC236}">
                <a16:creationId xmlns:a16="http://schemas.microsoft.com/office/drawing/2014/main" id="{C8EE2160-364A-C283-C9A5-4187E4167C8F}"/>
              </a:ext>
            </a:extLst>
          </p:cNvPr>
          <p:cNvSpPr/>
          <p:nvPr/>
        </p:nvSpPr>
        <p:spPr>
          <a:xfrm rot="5400000">
            <a:off x="10134782" y="2792437"/>
            <a:ext cx="3235566" cy="548640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75000"/>
            </a:avLst>
          </a:prstGeom>
          <a:solidFill>
            <a:schemeClr val="accent5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>
            <a:extLst>
              <a:ext uri="{FF2B5EF4-FFF2-40B4-BE49-F238E27FC236}">
                <a16:creationId xmlns:a16="http://schemas.microsoft.com/office/drawing/2014/main" id="{0C450F93-4D75-94BB-22DC-3545260CEB0E}"/>
              </a:ext>
            </a:extLst>
          </p:cNvPr>
          <p:cNvSpPr/>
          <p:nvPr/>
        </p:nvSpPr>
        <p:spPr>
          <a:xfrm>
            <a:off x="9333277" y="6178002"/>
            <a:ext cx="1415474" cy="23915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vi-VN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Connect Now</a:t>
            </a:r>
            <a:endParaRPr lang="en-US"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2">
            <a:extLst>
              <a:ext uri="{FF2B5EF4-FFF2-40B4-BE49-F238E27FC236}">
                <a16:creationId xmlns:a16="http://schemas.microsoft.com/office/drawing/2014/main" id="{96A5DFD0-B8C8-8358-2630-CBC7A53F3FDD}"/>
              </a:ext>
            </a:extLst>
          </p:cNvPr>
          <p:cNvSpPr/>
          <p:nvPr/>
        </p:nvSpPr>
        <p:spPr>
          <a:xfrm>
            <a:off x="3460653" y="5974986"/>
            <a:ext cx="833946" cy="26548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1219170">
              <a:buClrTx/>
            </a:pPr>
            <a:r>
              <a:rPr lang="en-US" b="1" kern="1200" dirty="0">
                <a:solidFill>
                  <a:schemeClr val="tx1"/>
                </a:solidFill>
                <a:latin typeface="Calibri" panose="020F0502020204030204"/>
              </a:rPr>
              <a:t>Submit</a:t>
            </a:r>
            <a:endParaRPr lang="en-US" kern="1200" dirty="0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293" name="Google Shape;293;p12">
            <a:extLst>
              <a:ext uri="{FF2B5EF4-FFF2-40B4-BE49-F238E27FC236}">
                <a16:creationId xmlns:a16="http://schemas.microsoft.com/office/drawing/2014/main" id="{95F37C2B-3AE1-A7CB-7DF5-E5E043788FE3}"/>
              </a:ext>
            </a:extLst>
          </p:cNvPr>
          <p:cNvSpPr/>
          <p:nvPr/>
        </p:nvSpPr>
        <p:spPr>
          <a:xfrm>
            <a:off x="1104561" y="6417152"/>
            <a:ext cx="1392081" cy="403459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1219170">
              <a:buClrTx/>
            </a:pPr>
            <a:r>
              <a:rPr lang="en-US" b="1" kern="1200" dirty="0">
                <a:solidFill>
                  <a:schemeClr val="tx1"/>
                </a:solidFill>
                <a:latin typeface="Calibri" panose="020F0502020204030204"/>
              </a:rPr>
              <a:t>Connect w/ other expert</a:t>
            </a:r>
            <a:endParaRPr lang="en-US" kern="1200" dirty="0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294" name="Google Shape;294;p12">
            <a:extLst>
              <a:ext uri="{FF2B5EF4-FFF2-40B4-BE49-F238E27FC236}">
                <a16:creationId xmlns:a16="http://schemas.microsoft.com/office/drawing/2014/main" id="{A96C4D64-67F4-8700-A62B-B81978B66EE6}"/>
              </a:ext>
            </a:extLst>
          </p:cNvPr>
          <p:cNvSpPr txBox="1"/>
          <p:nvPr/>
        </p:nvSpPr>
        <p:spPr>
          <a:xfrm>
            <a:off x="741665" y="218712"/>
            <a:ext cx="10007086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1800"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Customer Journey: </a:t>
            </a:r>
            <a:r>
              <a:rPr lang="en-US" sz="1800" kern="1200" dirty="0">
                <a:solidFill>
                  <a:srgbClr val="212121"/>
                </a:solidFill>
                <a:latin typeface="Calibri" panose="020F0502020204030204"/>
              </a:rPr>
              <a:t>Students complete the assessment, select a recommended expert to connect with, then submit a review and wait for feedback within 24 hours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2">
            <a:extLst>
              <a:ext uri="{FF2B5EF4-FFF2-40B4-BE49-F238E27FC236}">
                <a16:creationId xmlns:a16="http://schemas.microsoft.com/office/drawing/2014/main" id="{8AE948CA-51ED-32ED-E093-BC3D496327DE}"/>
              </a:ext>
            </a:extLst>
          </p:cNvPr>
          <p:cNvSpPr/>
          <p:nvPr/>
        </p:nvSpPr>
        <p:spPr>
          <a:xfrm>
            <a:off x="3223457" y="3431289"/>
            <a:ext cx="1195756" cy="23915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vi-VN" sz="1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58671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"/>
          <p:cNvSpPr/>
          <p:nvPr/>
        </p:nvSpPr>
        <p:spPr>
          <a:xfrm>
            <a:off x="165116" y="0"/>
            <a:ext cx="11861770" cy="685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 rot="-5400000">
            <a:off x="1457704" y="484015"/>
            <a:ext cx="685800" cy="2035442"/>
          </a:xfrm>
          <a:prstGeom prst="flowChartOffpageConnector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2"/>
          <p:cNvSpPr txBox="1"/>
          <p:nvPr/>
        </p:nvSpPr>
        <p:spPr>
          <a:xfrm>
            <a:off x="782879" y="1158821"/>
            <a:ext cx="1628354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Đăng nhập vào hệ thống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2"/>
          <p:cNvSpPr/>
          <p:nvPr/>
        </p:nvSpPr>
        <p:spPr>
          <a:xfrm rot="-5400000">
            <a:off x="3481666" y="569932"/>
            <a:ext cx="685800" cy="1863608"/>
          </a:xfrm>
          <a:prstGeom prst="flowChartOffpageConnector">
            <a:avLst/>
          </a:prstGeom>
          <a:solidFill>
            <a:srgbClr val="E91F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2"/>
          <p:cNvSpPr txBox="1"/>
          <p:nvPr/>
        </p:nvSpPr>
        <p:spPr>
          <a:xfrm>
            <a:off x="2892746" y="1158829"/>
            <a:ext cx="1490886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Làm bài TEST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2"/>
          <p:cNvSpPr/>
          <p:nvPr/>
        </p:nvSpPr>
        <p:spPr>
          <a:xfrm rot="-5400000">
            <a:off x="5454480" y="579124"/>
            <a:ext cx="685800" cy="1828801"/>
          </a:xfrm>
          <a:prstGeom prst="flowChartOffpageConnector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2"/>
          <p:cNvSpPr txBox="1"/>
          <p:nvPr/>
        </p:nvSpPr>
        <p:spPr>
          <a:xfrm>
            <a:off x="4882974" y="1150601"/>
            <a:ext cx="1463041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Hoàn thành bài TEST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2"/>
          <p:cNvSpPr/>
          <p:nvPr/>
        </p:nvSpPr>
        <p:spPr>
          <a:xfrm rot="5400000">
            <a:off x="5365089" y="3584621"/>
            <a:ext cx="685800" cy="1903238"/>
          </a:xfrm>
          <a:prstGeom prst="flowChartOffpageConnector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2"/>
          <p:cNvSpPr txBox="1"/>
          <p:nvPr/>
        </p:nvSpPr>
        <p:spPr>
          <a:xfrm>
            <a:off x="5137004" y="4193319"/>
            <a:ext cx="152259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Bắt</a:t>
            </a: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đầu</a:t>
            </a: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buổi</a:t>
            </a: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tư</a:t>
            </a: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vấn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2"/>
          <p:cNvSpPr/>
          <p:nvPr/>
        </p:nvSpPr>
        <p:spPr>
          <a:xfrm rot="5400000">
            <a:off x="3444447" y="3573862"/>
            <a:ext cx="685800" cy="1938046"/>
          </a:xfrm>
          <a:prstGeom prst="flowChartOffpageConnector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2"/>
          <p:cNvSpPr txBox="1"/>
          <p:nvPr/>
        </p:nvSpPr>
        <p:spPr>
          <a:xfrm>
            <a:off x="3017977" y="4199973"/>
            <a:ext cx="1738372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Kết</a:t>
            </a: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thúc</a:t>
            </a: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cuộc</a:t>
            </a: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gọi</a:t>
            </a: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và</a:t>
            </a: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đánh</a:t>
            </a: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giá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2"/>
          <p:cNvSpPr/>
          <p:nvPr/>
        </p:nvSpPr>
        <p:spPr>
          <a:xfrm rot="-5400000">
            <a:off x="7681387" y="211495"/>
            <a:ext cx="685800" cy="2580482"/>
          </a:xfrm>
          <a:prstGeom prst="flowChartOffpageConnector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2"/>
          <p:cNvSpPr txBox="1"/>
          <p:nvPr/>
        </p:nvSpPr>
        <p:spPr>
          <a:xfrm>
            <a:off x="6734034" y="1158816"/>
            <a:ext cx="2064386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Xem kết quả đề xuất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2"/>
          <p:cNvSpPr/>
          <p:nvPr/>
        </p:nvSpPr>
        <p:spPr>
          <a:xfrm rot="-5400000">
            <a:off x="9990182" y="483182"/>
            <a:ext cx="685800" cy="2037108"/>
          </a:xfrm>
          <a:prstGeom prst="flowChartOffpageConnector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2"/>
          <p:cNvSpPr txBox="1"/>
          <p:nvPr/>
        </p:nvSpPr>
        <p:spPr>
          <a:xfrm>
            <a:off x="9314521" y="1158829"/>
            <a:ext cx="1749352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Chọn</a:t>
            </a: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gói</a:t>
            </a: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dịch</a:t>
            </a: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vụ</a:t>
            </a: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và</a:t>
            </a: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thanh</a:t>
            </a: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toán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2"/>
          <p:cNvSpPr/>
          <p:nvPr/>
        </p:nvSpPr>
        <p:spPr>
          <a:xfrm rot="5400000">
            <a:off x="7253374" y="3621840"/>
            <a:ext cx="685800" cy="1828800"/>
          </a:xfrm>
          <a:prstGeom prst="flowChartOffpageConnector">
            <a:avLst/>
          </a:prstGeom>
          <a:solidFill>
            <a:srgbClr val="E91F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2"/>
          <p:cNvSpPr txBox="1"/>
          <p:nvPr/>
        </p:nvSpPr>
        <p:spPr>
          <a:xfrm>
            <a:off x="7047610" y="4193325"/>
            <a:ext cx="14630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Chuyển</a:t>
            </a: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đến</a:t>
            </a: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phòng</a:t>
            </a: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chờ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2"/>
          <p:cNvSpPr/>
          <p:nvPr/>
        </p:nvSpPr>
        <p:spPr>
          <a:xfrm rot="5400000">
            <a:off x="9588255" y="3122404"/>
            <a:ext cx="685800" cy="2840961"/>
          </a:xfrm>
          <a:prstGeom prst="flowChartOffpageConnector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2"/>
          <p:cNvSpPr txBox="1"/>
          <p:nvPr/>
        </p:nvSpPr>
        <p:spPr>
          <a:xfrm>
            <a:off x="8925022" y="4199981"/>
            <a:ext cx="242660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Hoàn </a:t>
            </a:r>
            <a:r>
              <a:rPr lang="en-US" sz="18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thành</a:t>
            </a: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thanh</a:t>
            </a: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toán</a:t>
            </a: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và</a:t>
            </a: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chuẩn</a:t>
            </a: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bị</a:t>
            </a: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kết</a:t>
            </a: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nối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782881" y="4200129"/>
            <a:ext cx="2035443" cy="685800"/>
          </a:xfrm>
          <a:prstGeom prst="flowChartProcess">
            <a:avLst/>
          </a:prstGeom>
          <a:solidFill>
            <a:srgbClr val="00206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Hoàn thành đánh giá và chờ phản hồi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9" name="Google Shape;279;p12"/>
          <p:cNvGraphicFramePr/>
          <p:nvPr>
            <p:extLst>
              <p:ext uri="{D42A27DB-BD31-4B8C-83A1-F6EECF244321}">
                <p14:modId xmlns:p14="http://schemas.microsoft.com/office/powerpoint/2010/main" val="2780325754"/>
              </p:ext>
            </p:extLst>
          </p:nvPr>
        </p:nvGraphicFramePr>
        <p:xfrm>
          <a:off x="364768" y="1863298"/>
          <a:ext cx="10986850" cy="2339070"/>
        </p:xfrm>
        <a:graphic>
          <a:graphicData uri="http://schemas.openxmlformats.org/drawingml/2006/table">
            <a:tbl>
              <a:tblPr firstRow="1" bandRow="1">
                <a:noFill/>
                <a:tableStyleId>{5F56F936-1EAE-4C9F-9BEE-47468C293F73}</a:tableStyleId>
              </a:tblPr>
              <a:tblGrid>
                <a:gridCol w="282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3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5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1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3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4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00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Elements</a:t>
                      </a:r>
                      <a:endParaRPr sz="1100" b="1" u="none" strike="noStrike" cap="none"/>
                    </a:p>
                  </a:txBody>
                  <a:tcPr marL="91450" marR="91450" marT="45725" marB="45725" anchor="ctr" anchorCtr="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 dirty="0" err="1">
                          <a:solidFill>
                            <a:schemeClr val="tx1"/>
                          </a:solidFill>
                        </a:rPr>
                        <a:t>Lời</a:t>
                      </a:r>
                      <a:r>
                        <a:rPr lang="en-US" sz="1100" u="none" strike="noStrike" cap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100" u="none" strike="noStrike" cap="none" dirty="0" err="1">
                          <a:solidFill>
                            <a:schemeClr val="tx1"/>
                          </a:solidFill>
                        </a:rPr>
                        <a:t>giới</a:t>
                      </a:r>
                      <a:r>
                        <a:rPr lang="en-US" sz="1100" u="none" strike="noStrike" cap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100" u="none" strike="noStrike" cap="none" dirty="0" err="1">
                          <a:solidFill>
                            <a:schemeClr val="tx1"/>
                          </a:solidFill>
                        </a:rPr>
                        <a:t>thiệu</a:t>
                      </a:r>
                      <a:endParaRPr sz="11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 anchorCtr="1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 dirty="0" err="1">
                          <a:solidFill>
                            <a:schemeClr val="tx1"/>
                          </a:solidFill>
                        </a:rPr>
                        <a:t>Bộ</a:t>
                      </a:r>
                      <a:r>
                        <a:rPr lang="en-US" sz="1100" u="none" strike="noStrike" cap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100" u="none" strike="noStrike" cap="none" dirty="0" err="1">
                          <a:solidFill>
                            <a:schemeClr val="tx1"/>
                          </a:solidFill>
                        </a:rPr>
                        <a:t>câu</a:t>
                      </a:r>
                      <a:r>
                        <a:rPr lang="en-US" sz="1100" u="none" strike="noStrike" cap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100" u="none" strike="noStrike" cap="none" dirty="0" err="1">
                          <a:solidFill>
                            <a:schemeClr val="tx1"/>
                          </a:solidFill>
                        </a:rPr>
                        <a:t>hỏi</a:t>
                      </a:r>
                      <a:r>
                        <a:rPr lang="en-US" sz="1100" u="none" strike="noStrike" cap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100" u="none" strike="noStrike" cap="none" dirty="0" err="1">
                          <a:solidFill>
                            <a:schemeClr val="tx1"/>
                          </a:solidFill>
                        </a:rPr>
                        <a:t>trắc</a:t>
                      </a:r>
                      <a:r>
                        <a:rPr lang="en-US" sz="1100" u="none" strike="noStrike" cap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100" u="none" strike="noStrike" cap="none" dirty="0" err="1">
                          <a:solidFill>
                            <a:schemeClr val="tx1"/>
                          </a:solidFill>
                        </a:rPr>
                        <a:t>nghiệm</a:t>
                      </a:r>
                      <a:endParaRPr sz="110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 anchorCtr="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 dirty="0">
                          <a:solidFill>
                            <a:schemeClr val="tx1"/>
                          </a:solidFill>
                        </a:rPr>
                        <a:t>Thông </a:t>
                      </a:r>
                      <a:r>
                        <a:rPr lang="en-US" sz="1100" u="none" strike="noStrike" cap="none" dirty="0" err="1">
                          <a:solidFill>
                            <a:schemeClr val="tx1"/>
                          </a:solidFill>
                        </a:rPr>
                        <a:t>báo</a:t>
                      </a:r>
                      <a:r>
                        <a:rPr lang="en-US" sz="1100" u="none" strike="noStrike" cap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100" u="none" strike="noStrike" cap="none" dirty="0" err="1">
                          <a:solidFill>
                            <a:schemeClr val="tx1"/>
                          </a:solidFill>
                        </a:rPr>
                        <a:t>hoàn</a:t>
                      </a:r>
                      <a:r>
                        <a:rPr lang="en-US" sz="1100" u="none" strike="noStrike" cap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100" u="none" strike="noStrike" cap="none" dirty="0" err="1">
                          <a:solidFill>
                            <a:schemeClr val="tx1"/>
                          </a:solidFill>
                        </a:rPr>
                        <a:t>thành</a:t>
                      </a:r>
                      <a:endParaRPr sz="110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 anchorCtr="1"/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Char char="•"/>
                      </a:pPr>
                      <a:r>
                        <a:rPr lang="en-US" sz="1100" u="none" strike="noStrike" cap="none" dirty="0">
                          <a:solidFill>
                            <a:schemeClr val="tx1"/>
                          </a:solidFill>
                        </a:rPr>
                        <a:t>Danh </a:t>
                      </a:r>
                      <a:r>
                        <a:rPr lang="en-US" sz="1100" u="none" strike="noStrike" cap="none" dirty="0" err="1">
                          <a:solidFill>
                            <a:schemeClr val="tx1"/>
                          </a:solidFill>
                        </a:rPr>
                        <a:t>sách</a:t>
                      </a:r>
                      <a:r>
                        <a:rPr lang="en-US" sz="1100" u="none" strike="noStrike" cap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100" u="none" strike="noStrike" cap="none" dirty="0" err="1">
                          <a:solidFill>
                            <a:schemeClr val="tx1"/>
                          </a:solidFill>
                        </a:rPr>
                        <a:t>các</a:t>
                      </a:r>
                      <a:r>
                        <a:rPr lang="en-US" sz="1100" u="none" strike="noStrike" cap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100" u="none" strike="noStrike" cap="none" dirty="0" err="1">
                          <a:solidFill>
                            <a:schemeClr val="tx1"/>
                          </a:solidFill>
                        </a:rPr>
                        <a:t>chuyên</a:t>
                      </a:r>
                      <a:r>
                        <a:rPr lang="en-US" sz="1100" u="none" strike="noStrike" cap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100" u="none" strike="noStrike" cap="none" dirty="0" err="1">
                          <a:solidFill>
                            <a:schemeClr val="tx1"/>
                          </a:solidFill>
                        </a:rPr>
                        <a:t>gia</a:t>
                      </a:r>
                      <a:r>
                        <a:rPr lang="en-US" sz="1100" u="none" strike="noStrike" cap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100" u="none" strike="noStrike" cap="none" dirty="0" err="1">
                          <a:solidFill>
                            <a:schemeClr val="tx1"/>
                          </a:solidFill>
                        </a:rPr>
                        <a:t>được</a:t>
                      </a:r>
                      <a:r>
                        <a:rPr lang="en-US" sz="1100" u="none" strike="noStrike" cap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100" u="none" strike="noStrike" cap="none" dirty="0" err="1">
                          <a:solidFill>
                            <a:schemeClr val="tx1"/>
                          </a:solidFill>
                        </a:rPr>
                        <a:t>đề</a:t>
                      </a:r>
                      <a:r>
                        <a:rPr lang="en-US" sz="1100" u="none" strike="noStrike" cap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100" u="none" strike="noStrike" cap="none" dirty="0" err="1">
                          <a:solidFill>
                            <a:schemeClr val="tx1"/>
                          </a:solidFill>
                        </a:rPr>
                        <a:t>xuất</a:t>
                      </a:r>
                      <a:endParaRPr sz="1100" u="none" strike="noStrike" cap="none" dirty="0">
                        <a:solidFill>
                          <a:schemeClr val="tx1"/>
                        </a:solidFill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Char char="•"/>
                      </a:pPr>
                      <a:r>
                        <a:rPr lang="en-US" sz="1100" u="none" strike="noStrike" cap="none" dirty="0">
                          <a:solidFill>
                            <a:schemeClr val="tx1"/>
                          </a:solidFill>
                        </a:rPr>
                        <a:t>Page Navigation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Char char="•"/>
                      </a:pPr>
                      <a:r>
                        <a:rPr lang="en-US" sz="1100" u="none" strike="noStrike" cap="none" dirty="0">
                          <a:solidFill>
                            <a:schemeClr val="tx1"/>
                          </a:solidFill>
                        </a:rPr>
                        <a:t>Avatar </a:t>
                      </a:r>
                      <a:r>
                        <a:rPr lang="en-US" sz="1100" u="none" strike="noStrike" cap="none" dirty="0" err="1">
                          <a:solidFill>
                            <a:schemeClr val="tx1"/>
                          </a:solidFill>
                        </a:rPr>
                        <a:t>chuyên</a:t>
                      </a:r>
                      <a:r>
                        <a:rPr lang="en-US" sz="1100" u="none" strike="noStrike" cap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100" u="none" strike="noStrike" cap="none" dirty="0" err="1">
                          <a:solidFill>
                            <a:schemeClr val="tx1"/>
                          </a:solidFill>
                        </a:rPr>
                        <a:t>gia</a:t>
                      </a:r>
                      <a:endParaRPr sz="1100" u="none" strike="noStrike" cap="none" dirty="0">
                        <a:solidFill>
                          <a:schemeClr val="tx1"/>
                        </a:solidFill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Char char="•"/>
                      </a:pPr>
                      <a:r>
                        <a:rPr lang="en-US" sz="1100" u="none" strike="noStrike" cap="none" dirty="0">
                          <a:solidFill>
                            <a:schemeClr val="tx1"/>
                          </a:solidFill>
                        </a:rPr>
                        <a:t>Thông tin </a:t>
                      </a:r>
                      <a:r>
                        <a:rPr lang="en-US" sz="1100" u="none" strike="noStrike" cap="none" dirty="0" err="1">
                          <a:solidFill>
                            <a:schemeClr val="tx1"/>
                          </a:solidFill>
                        </a:rPr>
                        <a:t>giới</a:t>
                      </a:r>
                      <a:r>
                        <a:rPr lang="en-US" sz="1100" u="none" strike="noStrike" cap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100" u="none" strike="noStrike" cap="none" dirty="0" err="1">
                          <a:solidFill>
                            <a:schemeClr val="tx1"/>
                          </a:solidFill>
                        </a:rPr>
                        <a:t>thiệu</a:t>
                      </a:r>
                      <a:endParaRPr sz="110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 anchorCtr="1"/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Char char="•"/>
                      </a:pPr>
                      <a:r>
                        <a:rPr lang="en-US" sz="1100" u="none" strike="noStrike" cap="none" dirty="0">
                          <a:solidFill>
                            <a:schemeClr val="tx1"/>
                          </a:solidFill>
                        </a:rPr>
                        <a:t>Thông tin </a:t>
                      </a:r>
                      <a:r>
                        <a:rPr lang="en-US" sz="1100" u="none" strike="noStrike" cap="none" dirty="0" err="1">
                          <a:solidFill>
                            <a:schemeClr val="tx1"/>
                          </a:solidFill>
                        </a:rPr>
                        <a:t>các</a:t>
                      </a:r>
                      <a:r>
                        <a:rPr lang="en-US" sz="1100" u="none" strike="noStrike" cap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100" u="none" strike="noStrike" cap="none" dirty="0" err="1">
                          <a:solidFill>
                            <a:schemeClr val="tx1"/>
                          </a:solidFill>
                        </a:rPr>
                        <a:t>gói</a:t>
                      </a:r>
                      <a:r>
                        <a:rPr lang="en-US" sz="1100" u="none" strike="noStrike" cap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100" u="none" strike="noStrike" cap="none" dirty="0" err="1">
                          <a:solidFill>
                            <a:schemeClr val="tx1"/>
                          </a:solidFill>
                        </a:rPr>
                        <a:t>dịch</a:t>
                      </a:r>
                      <a:r>
                        <a:rPr lang="en-US" sz="1100" u="none" strike="noStrike" cap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100" u="none" strike="noStrike" cap="none" dirty="0" err="1">
                          <a:solidFill>
                            <a:schemeClr val="tx1"/>
                          </a:solidFill>
                        </a:rPr>
                        <a:t>vụ</a:t>
                      </a:r>
                      <a:endParaRPr sz="1100" u="none" strike="noStrike" cap="none" dirty="0">
                        <a:solidFill>
                          <a:schemeClr val="tx1"/>
                        </a:solidFill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Char char="•"/>
                      </a:pPr>
                      <a:r>
                        <a:rPr lang="en-US" sz="1100" u="none" strike="noStrike" cap="none" dirty="0">
                          <a:solidFill>
                            <a:schemeClr val="tx1"/>
                          </a:solidFill>
                        </a:rPr>
                        <a:t>Các </a:t>
                      </a:r>
                      <a:r>
                        <a:rPr lang="en-US" sz="1100" u="none" strike="noStrike" cap="none" dirty="0" err="1">
                          <a:solidFill>
                            <a:schemeClr val="tx1"/>
                          </a:solidFill>
                        </a:rPr>
                        <a:t>hình</a:t>
                      </a:r>
                      <a:r>
                        <a:rPr lang="en-US" sz="1100" u="none" strike="noStrike" cap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100" u="none" strike="noStrike" cap="none" dirty="0" err="1">
                          <a:solidFill>
                            <a:schemeClr val="tx1"/>
                          </a:solidFill>
                        </a:rPr>
                        <a:t>thức</a:t>
                      </a:r>
                      <a:r>
                        <a:rPr lang="en-US" sz="1100" u="none" strike="noStrike" cap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100" u="none" strike="noStrike" cap="none" dirty="0" err="1">
                          <a:solidFill>
                            <a:schemeClr val="tx1"/>
                          </a:solidFill>
                        </a:rPr>
                        <a:t>thanh</a:t>
                      </a:r>
                      <a:r>
                        <a:rPr lang="en-US" sz="1100" u="none" strike="noStrike" cap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100" u="none" strike="noStrike" cap="none" dirty="0" err="1">
                          <a:solidFill>
                            <a:schemeClr val="tx1"/>
                          </a:solidFill>
                        </a:rPr>
                        <a:t>toán</a:t>
                      </a:r>
                      <a:endParaRPr sz="110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 anchorCtr="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6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CTA</a:t>
                      </a:r>
                      <a:endParaRPr sz="11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 anchorCtr="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 anchor="ctr" anchorCtr="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 anchor="ctr" anchorCtr="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 anchor="ctr" anchorCtr="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 anchor="ctr" anchorCtr="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 dirty="0"/>
                    </a:p>
                  </a:txBody>
                  <a:tcPr marL="91450" marR="91450" marT="45725" marB="45725"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80" name="Google Shape;280;p12"/>
          <p:cNvSpPr/>
          <p:nvPr/>
        </p:nvSpPr>
        <p:spPr>
          <a:xfrm>
            <a:off x="1202724" y="3172268"/>
            <a:ext cx="1195756" cy="23915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Làm bài TEST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1" name="Google Shape;281;p12"/>
          <p:cNvGraphicFramePr/>
          <p:nvPr/>
        </p:nvGraphicFramePr>
        <p:xfrm>
          <a:off x="364769" y="4975990"/>
          <a:ext cx="10986875" cy="1908390"/>
        </p:xfrm>
        <a:graphic>
          <a:graphicData uri="http://schemas.openxmlformats.org/drawingml/2006/table">
            <a:tbl>
              <a:tblPr firstRow="1" bandRow="1">
                <a:noFill/>
                <a:tableStyleId>{5F56F936-1EAE-4C9F-9BEE-47468C293F73}</a:tableStyleId>
              </a:tblPr>
              <a:tblGrid>
                <a:gridCol w="29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2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40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95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Elements</a:t>
                      </a:r>
                      <a:endParaRPr sz="1100" b="1" u="none" strike="noStrike" cap="none"/>
                    </a:p>
                  </a:txBody>
                  <a:tcPr marL="91450" marR="91450" marT="45725" marB="45725" anchor="ctr" anchorCtr="1"/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Char char="•"/>
                      </a:pPr>
                      <a:r>
                        <a:rPr lang="en-US" sz="1100" b="1" u="none" strike="noStrike" cap="none"/>
                        <a:t>Lời cảm ơn (nếu đánh giá)</a:t>
                      </a:r>
                      <a:endParaRPr sz="1400" u="none" strike="noStrike" cap="none"/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Char char="•"/>
                      </a:pPr>
                      <a:r>
                        <a:rPr lang="en-US" sz="1100" b="1" u="none" strike="noStrike" cap="none"/>
                        <a:t>Thông báo thời gian nhận phản hồi</a:t>
                      </a:r>
                      <a:endParaRPr sz="1100" b="0" u="none" strike="noStrike" cap="none"/>
                    </a:p>
                  </a:txBody>
                  <a:tcPr marL="91450" marR="91450" marT="45725" marB="45725" anchor="ctr" anchorCtr="1"/>
                </a:tc>
                <a:tc>
                  <a:txBody>
                    <a:bodyPr/>
                    <a:lstStyle/>
                    <a:p>
                      <a:pPr marL="171450" marR="0" lvl="0" indent="-17145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Char char="•"/>
                      </a:pPr>
                      <a:r>
                        <a:rPr lang="en-US" sz="1100" u="none" strike="noStrike" cap="none"/>
                        <a:t>Thang đánh giá</a:t>
                      </a:r>
                      <a:endParaRPr sz="1100" u="none" strike="noStrike" cap="none"/>
                    </a:p>
                    <a:p>
                      <a:pPr marL="171450" marR="0" lvl="0" indent="-17145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Char char="•"/>
                      </a:pPr>
                      <a:r>
                        <a:rPr lang="en-US" sz="1100" u="none" strike="noStrike" cap="none"/>
                        <a:t>Khung bình luận</a:t>
                      </a:r>
                      <a:endParaRPr sz="1100" u="none" strike="noStrike" cap="none"/>
                    </a:p>
                  </a:txBody>
                  <a:tcPr marL="91450" marR="91450" marT="45725" marB="45725" anchor="ctr" anchorCtr="1"/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Char char="•"/>
                      </a:pPr>
                      <a:r>
                        <a:rPr lang="en-US" sz="1100" u="none" strike="noStrike" cap="none"/>
                        <a:t>Màn hình cuộc gọi</a:t>
                      </a:r>
                      <a:endParaRPr sz="1100" u="none" strike="noStrike" cap="none"/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Char char="•"/>
                      </a:pPr>
                      <a:r>
                        <a:rPr lang="en-US" sz="1100" u="none" strike="noStrike" cap="none"/>
                        <a:t>Khung trò chuyện</a:t>
                      </a:r>
                      <a:endParaRPr sz="1100" u="none" strike="noStrike" cap="none"/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Char char="•"/>
                      </a:pPr>
                      <a:r>
                        <a:rPr lang="en-US" sz="1100" u="none" strike="noStrike" cap="none"/>
                        <a:t>Thanh điều khiển cuộc gọi</a:t>
                      </a:r>
                      <a:endParaRPr sz="1100" u="none" strike="noStrike" cap="none"/>
                    </a:p>
                  </a:txBody>
                  <a:tcPr marL="91450" marR="91450" marT="45725" marB="45725" anchor="ctr" anchorCtr="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Thông báo trạng thái chờ</a:t>
                      </a:r>
                      <a:endParaRPr sz="1100" u="none" strike="noStrike" cap="none"/>
                    </a:p>
                  </a:txBody>
                  <a:tcPr marL="91450" marR="91450" marT="45725" marB="45725" anchor="ctr" anchorCtr="1"/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Char char="•"/>
                      </a:pPr>
                      <a:r>
                        <a:rPr lang="en-US" sz="1100" u="none" strike="noStrike" cap="none"/>
                        <a:t>Thông báo thanh toán thành công</a:t>
                      </a:r>
                      <a:endParaRPr sz="1100" u="none" strike="noStrike" cap="none"/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Char char="•"/>
                      </a:pPr>
                      <a:r>
                        <a:rPr lang="en-US" sz="1100" u="none" strike="noStrike" cap="none"/>
                        <a:t>Thông tin chuyên gia đã lựa chọn</a:t>
                      </a:r>
                      <a:endParaRPr sz="1100" u="none" strike="noStrike" cap="none"/>
                    </a:p>
                  </a:txBody>
                  <a:tcPr marL="91450" marR="91450" marT="45725" marB="45725" anchor="ctr" anchorCtr="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CTA</a:t>
                      </a:r>
                      <a:endParaRPr sz="11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 anchorCtr="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 anchor="ctr" anchorCtr="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 anchor="ctr" anchorCtr="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 anchor="ctr" anchorCtr="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</a:rPr>
                        <a:t>N/A</a:t>
                      </a:r>
                      <a:endParaRPr sz="1400" u="none" strike="noStrike" cap="none"/>
                    </a:p>
                  </a:txBody>
                  <a:tcPr marL="91450" marR="91450" marT="45725" marB="45725" anchor="ctr" anchorCtr="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82" name="Google Shape;282;p12"/>
          <p:cNvSpPr/>
          <p:nvPr/>
        </p:nvSpPr>
        <p:spPr>
          <a:xfrm>
            <a:off x="3460653" y="6346343"/>
            <a:ext cx="727821" cy="224142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Bỏ qua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3223457" y="2901744"/>
            <a:ext cx="1195756" cy="23915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Tiếp theo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3223457" y="3162765"/>
            <a:ext cx="1195756" cy="23915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Quay lại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5147330" y="3162765"/>
            <a:ext cx="1195756" cy="23915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Xem kết quả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7426409" y="3162765"/>
            <a:ext cx="1195756" cy="23915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Kết nối ngay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9735204" y="3162765"/>
            <a:ext cx="1195756" cy="23915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Thanh toán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4989069" y="6198665"/>
            <a:ext cx="1512278" cy="224144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Kết thúc cuộc gọi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1080183" y="5991761"/>
            <a:ext cx="1440838" cy="354582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Tiếp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tục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kết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nối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2"/>
          <p:cNvSpPr/>
          <p:nvPr/>
        </p:nvSpPr>
        <p:spPr>
          <a:xfrm rot="5400000">
            <a:off x="10134782" y="2792437"/>
            <a:ext cx="3235566" cy="548640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75000"/>
            </a:avLst>
          </a:prstGeom>
          <a:solidFill>
            <a:schemeClr val="accent5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9333277" y="6178002"/>
            <a:ext cx="1195756" cy="23915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Kết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nối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ngay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3585267" y="6006768"/>
            <a:ext cx="478594" cy="224143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Gửi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1104561" y="6443193"/>
            <a:ext cx="1392081" cy="377418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Kết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nối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với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chuyên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gia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khác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2"/>
          <p:cNvSpPr txBox="1"/>
          <p:nvPr/>
        </p:nvSpPr>
        <p:spPr>
          <a:xfrm>
            <a:off x="741665" y="218712"/>
            <a:ext cx="1000708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Customer Journey: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Học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sinh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làm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bài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test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và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lựa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chọn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chuyên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gia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được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đề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xuất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để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kết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nối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sau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đó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hoàn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thành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đánh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giá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và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đợi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phản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hồi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trong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vòng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24h.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3223457" y="3431289"/>
            <a:ext cx="1195756" cy="23915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Kết thúc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B3499A-723D-B313-909E-768B869F4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Shape 299">
          <a:extLst>
            <a:ext uri="{FF2B5EF4-FFF2-40B4-BE49-F238E27FC236}">
              <a16:creationId xmlns:a16="http://schemas.microsoft.com/office/drawing/2014/main" id="{DE31F39B-D47E-3CE9-D6AF-4213BC07C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3">
            <a:extLst>
              <a:ext uri="{FF2B5EF4-FFF2-40B4-BE49-F238E27FC236}">
                <a16:creationId xmlns:a16="http://schemas.microsoft.com/office/drawing/2014/main" id="{81DECCF1-6A31-C426-C35F-072B1CF232F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7360" y="388620"/>
            <a:ext cx="9064752" cy="60807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4209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BF87FDBB-B24C-9347-1BE8-CB471676A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>
            <a:extLst>
              <a:ext uri="{FF2B5EF4-FFF2-40B4-BE49-F238E27FC236}">
                <a16:creationId xmlns:a16="http://schemas.microsoft.com/office/drawing/2014/main" id="{C0CC4FBB-B8AB-4F47-1212-201AF7DDD48A}"/>
              </a:ext>
            </a:extLst>
          </p:cNvPr>
          <p:cNvSpPr/>
          <p:nvPr/>
        </p:nvSpPr>
        <p:spPr>
          <a:xfrm>
            <a:off x="-3312669" y="-2752725"/>
            <a:ext cx="18316575" cy="14801850"/>
          </a:xfrm>
          <a:prstGeom prst="ellipse">
            <a:avLst/>
          </a:prstGeom>
          <a:solidFill>
            <a:schemeClr val="lt1">
              <a:alpha val="53333"/>
            </a:schemeClr>
          </a:solidFill>
          <a:ln w="889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17" name="Google Shape;117;p4">
            <a:extLst>
              <a:ext uri="{FF2B5EF4-FFF2-40B4-BE49-F238E27FC236}">
                <a16:creationId xmlns:a16="http://schemas.microsoft.com/office/drawing/2014/main" id="{B3D0C7E9-CA69-CAF7-1160-F7A083031C29}"/>
              </a:ext>
            </a:extLst>
          </p:cNvPr>
          <p:cNvSpPr/>
          <p:nvPr/>
        </p:nvSpPr>
        <p:spPr>
          <a:xfrm>
            <a:off x="-3486707" y="-59844"/>
            <a:ext cx="9332326" cy="6917844"/>
          </a:xfrm>
          <a:prstGeom prst="ellipse">
            <a:avLst/>
          </a:prstGeom>
          <a:solidFill>
            <a:srgbClr val="FFC000"/>
          </a:solidFill>
          <a:ln w="1270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131EB7E5-784D-94C5-80E4-8F4299D13AE8}"/>
              </a:ext>
            </a:extLst>
          </p:cNvPr>
          <p:cNvSpPr/>
          <p:nvPr/>
        </p:nvSpPr>
        <p:spPr>
          <a:xfrm>
            <a:off x="-3486707" y="-266960"/>
            <a:ext cx="8265905" cy="8134322"/>
          </a:xfrm>
          <a:prstGeom prst="ellipse">
            <a:avLst/>
          </a:prstGeom>
          <a:solidFill>
            <a:schemeClr val="lt1">
              <a:alpha val="0"/>
            </a:schemeClr>
          </a:solidFill>
          <a:ln w="25400" cap="flat" cmpd="sng">
            <a:solidFill>
              <a:srgbClr val="0C0C0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>
            <a:extLst>
              <a:ext uri="{FF2B5EF4-FFF2-40B4-BE49-F238E27FC236}">
                <a16:creationId xmlns:a16="http://schemas.microsoft.com/office/drawing/2014/main" id="{A0A94849-53FD-7402-5326-5C7278946485}"/>
              </a:ext>
            </a:extLst>
          </p:cNvPr>
          <p:cNvSpPr txBox="1"/>
          <p:nvPr/>
        </p:nvSpPr>
        <p:spPr>
          <a:xfrm>
            <a:off x="519266" y="1412554"/>
            <a:ext cx="3625353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vi-VN" sz="3600" b="1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System Solution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0" name="Google Shape;120;p4">
            <a:extLst>
              <a:ext uri="{FF2B5EF4-FFF2-40B4-BE49-F238E27FC236}">
                <a16:creationId xmlns:a16="http://schemas.microsoft.com/office/drawing/2014/main" id="{F006EC94-00C1-65AD-EC9A-4E56117FBA1E}"/>
              </a:ext>
            </a:extLst>
          </p:cNvPr>
          <p:cNvGrpSpPr/>
          <p:nvPr/>
        </p:nvGrpSpPr>
        <p:grpSpPr>
          <a:xfrm>
            <a:off x="1822960" y="2819400"/>
            <a:ext cx="2399325" cy="609600"/>
            <a:chOff x="2719754" y="4708641"/>
            <a:chExt cx="3071446" cy="609600"/>
          </a:xfrm>
        </p:grpSpPr>
        <p:cxnSp>
          <p:nvCxnSpPr>
            <p:cNvPr id="121" name="Google Shape;121;p4">
              <a:extLst>
                <a:ext uri="{FF2B5EF4-FFF2-40B4-BE49-F238E27FC236}">
                  <a16:creationId xmlns:a16="http://schemas.microsoft.com/office/drawing/2014/main" id="{055EEA2F-DEC0-DFA0-4CA0-EF5E0BB46C9A}"/>
                </a:ext>
              </a:extLst>
            </p:cNvPr>
            <p:cNvCxnSpPr/>
            <p:nvPr/>
          </p:nvCxnSpPr>
          <p:spPr>
            <a:xfrm>
              <a:off x="2719754" y="4708641"/>
              <a:ext cx="3071446" cy="0"/>
            </a:xfrm>
            <a:prstGeom prst="straightConnector1">
              <a:avLst/>
            </a:prstGeom>
            <a:noFill/>
            <a:ln w="44450" cap="rnd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22" name="Google Shape;122;p4">
              <a:extLst>
                <a:ext uri="{FF2B5EF4-FFF2-40B4-BE49-F238E27FC236}">
                  <a16:creationId xmlns:a16="http://schemas.microsoft.com/office/drawing/2014/main" id="{AC4F7BA5-4411-7520-F426-4E2E83ABF616}"/>
                </a:ext>
              </a:extLst>
            </p:cNvPr>
            <p:cNvCxnSpPr/>
            <p:nvPr/>
          </p:nvCxnSpPr>
          <p:spPr>
            <a:xfrm>
              <a:off x="2719754" y="5001717"/>
              <a:ext cx="3071446" cy="0"/>
            </a:xfrm>
            <a:prstGeom prst="straightConnector1">
              <a:avLst/>
            </a:prstGeom>
            <a:noFill/>
            <a:ln w="44450" cap="rnd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23" name="Google Shape;123;p4">
              <a:extLst>
                <a:ext uri="{FF2B5EF4-FFF2-40B4-BE49-F238E27FC236}">
                  <a16:creationId xmlns:a16="http://schemas.microsoft.com/office/drawing/2014/main" id="{04095D97-4599-776B-6F87-F741015B00D9}"/>
                </a:ext>
              </a:extLst>
            </p:cNvPr>
            <p:cNvCxnSpPr/>
            <p:nvPr/>
          </p:nvCxnSpPr>
          <p:spPr>
            <a:xfrm>
              <a:off x="2719754" y="5318241"/>
              <a:ext cx="3071446" cy="0"/>
            </a:xfrm>
            <a:prstGeom prst="straightConnector1">
              <a:avLst/>
            </a:prstGeom>
            <a:noFill/>
            <a:ln w="44450" cap="rnd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sp>
        <p:nvSpPr>
          <p:cNvPr id="124" name="Google Shape;124;p4">
            <a:extLst>
              <a:ext uri="{FF2B5EF4-FFF2-40B4-BE49-F238E27FC236}">
                <a16:creationId xmlns:a16="http://schemas.microsoft.com/office/drawing/2014/main" id="{3BF02DA3-3922-9EAE-0F46-3543FC135A78}"/>
              </a:ext>
            </a:extLst>
          </p:cNvPr>
          <p:cNvSpPr/>
          <p:nvPr/>
        </p:nvSpPr>
        <p:spPr>
          <a:xfrm>
            <a:off x="10937129" y="-972942"/>
            <a:ext cx="1870425" cy="1826196"/>
          </a:xfrm>
          <a:prstGeom prst="ellipse">
            <a:avLst/>
          </a:prstGeom>
          <a:solidFill>
            <a:schemeClr val="lt1">
              <a:alpha val="0"/>
            </a:schemeClr>
          </a:solidFill>
          <a:ln w="25400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5715F7-790A-5ECE-2CED-566FF1CDE548}"/>
              </a:ext>
            </a:extLst>
          </p:cNvPr>
          <p:cNvSpPr txBox="1"/>
          <p:nvPr/>
        </p:nvSpPr>
        <p:spPr>
          <a:xfrm>
            <a:off x="6216377" y="1213864"/>
            <a:ext cx="5686865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System Solution</a:t>
            </a:r>
            <a:endParaRPr lang="en-US" sz="2200" dirty="0"/>
          </a:p>
          <a:p>
            <a:r>
              <a:rPr lang="en-US" sz="2200" b="1" dirty="0" err="1"/>
              <a:t>TrueCareer</a:t>
            </a:r>
            <a:r>
              <a:rPr lang="en-US" sz="2200" dirty="0"/>
              <a:t> solves the career guidance problem by connecting assessment data with recommendation logic.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Converts student assessment answers into structured feature scores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Uses K-Means clustering to group students into six orientation types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Recommends suitable majors, courses, mentor types, and career paths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Matches students with mentors based on recommended mentor type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427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Shape 299">
          <a:extLst>
            <a:ext uri="{FF2B5EF4-FFF2-40B4-BE49-F238E27FC236}">
              <a16:creationId xmlns:a16="http://schemas.microsoft.com/office/drawing/2014/main" id="{14304898-3D88-9A74-417F-537F86CAF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7;p10">
            <a:extLst>
              <a:ext uri="{FF2B5EF4-FFF2-40B4-BE49-F238E27FC236}">
                <a16:creationId xmlns:a16="http://schemas.microsoft.com/office/drawing/2014/main" id="{6EA3DACC-8C6A-D2F4-59BC-686A14FF4C53}"/>
              </a:ext>
            </a:extLst>
          </p:cNvPr>
          <p:cNvSpPr txBox="1"/>
          <p:nvPr/>
        </p:nvSpPr>
        <p:spPr>
          <a:xfrm>
            <a:off x="83420" y="339212"/>
            <a:ext cx="5720614" cy="2123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3600"/>
            </a:pPr>
            <a:r>
              <a:rPr lang="en-US" sz="4400" b="1" dirty="0"/>
              <a:t>Data &amp; Recommendation Logic</a:t>
            </a:r>
            <a:endParaRPr sz="44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C3AE11-7A1B-0128-810F-9BD8CF22E569}"/>
              </a:ext>
            </a:extLst>
          </p:cNvPr>
          <p:cNvSpPr/>
          <p:nvPr/>
        </p:nvSpPr>
        <p:spPr>
          <a:xfrm>
            <a:off x="83420" y="2565404"/>
            <a:ext cx="4411940" cy="12127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Key </a:t>
            </a:r>
            <a:r>
              <a:rPr lang="vi-V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Point: </a:t>
            </a: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K-Means is used for student clustering, while mentor matching is performed through rule-based mapping based on </a:t>
            </a:r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recommended_mentor_type</a:t>
            </a: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7503C7-9E85-1EDC-0E4F-1FD74345A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24608"/>
            <a:ext cx="6012581" cy="683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8660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Shape 299">
          <a:extLst>
            <a:ext uri="{FF2B5EF4-FFF2-40B4-BE49-F238E27FC236}">
              <a16:creationId xmlns:a16="http://schemas.microsoft.com/office/drawing/2014/main" id="{A2F36D78-606A-C03F-F435-D7F1D6C08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7;p10">
            <a:extLst>
              <a:ext uri="{FF2B5EF4-FFF2-40B4-BE49-F238E27FC236}">
                <a16:creationId xmlns:a16="http://schemas.microsoft.com/office/drawing/2014/main" id="{5DF07094-FEB2-EBA4-45F1-ED14EE5C393D}"/>
              </a:ext>
            </a:extLst>
          </p:cNvPr>
          <p:cNvSpPr txBox="1"/>
          <p:nvPr/>
        </p:nvSpPr>
        <p:spPr>
          <a:xfrm>
            <a:off x="83420" y="339212"/>
            <a:ext cx="4039401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3600"/>
            </a:pPr>
            <a:r>
              <a:rPr lang="en-US" sz="4400" b="1" dirty="0"/>
              <a:t>System Architecture</a:t>
            </a:r>
            <a:endParaRPr sz="44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960FB1-547D-A57A-9BAB-85FA10E2F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1810" y="328863"/>
            <a:ext cx="6641432" cy="652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8386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14"/>
          <p:cNvPicPr preferRelativeResize="0"/>
          <p:nvPr/>
        </p:nvPicPr>
        <p:blipFill rotWithShape="1">
          <a:blip r:embed="rId3">
            <a:alphaModFix/>
          </a:blip>
          <a:srcRect l="1044" r="1043"/>
          <a:stretch/>
        </p:blipFill>
        <p:spPr>
          <a:xfrm>
            <a:off x="6141264" y="113762"/>
            <a:ext cx="4380802" cy="6630476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4"/>
          <p:cNvSpPr/>
          <p:nvPr/>
        </p:nvSpPr>
        <p:spPr>
          <a:xfrm>
            <a:off x="-1471580" y="2760491"/>
            <a:ext cx="6564685" cy="6317171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-940791" y="3098550"/>
            <a:ext cx="6388604" cy="5641051"/>
          </a:xfrm>
          <a:prstGeom prst="ellipse">
            <a:avLst/>
          </a:prstGeom>
          <a:noFill/>
          <a:ln w="38100" cap="flat" cmpd="sng">
            <a:solidFill>
              <a:srgbClr val="0C0C0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 txBox="1"/>
          <p:nvPr/>
        </p:nvSpPr>
        <p:spPr>
          <a:xfrm>
            <a:off x="1124963" y="4380817"/>
            <a:ext cx="2920179" cy="64633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sng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Prototype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9" name="Google Shape;309;p14"/>
          <p:cNvGrpSpPr/>
          <p:nvPr/>
        </p:nvGrpSpPr>
        <p:grpSpPr>
          <a:xfrm>
            <a:off x="128253" y="3292931"/>
            <a:ext cx="2399325" cy="609600"/>
            <a:chOff x="2719754" y="4708641"/>
            <a:chExt cx="3071446" cy="609600"/>
          </a:xfrm>
        </p:grpSpPr>
        <p:cxnSp>
          <p:nvCxnSpPr>
            <p:cNvPr id="310" name="Google Shape;310;p14"/>
            <p:cNvCxnSpPr/>
            <p:nvPr/>
          </p:nvCxnSpPr>
          <p:spPr>
            <a:xfrm>
              <a:off x="2719754" y="4708641"/>
              <a:ext cx="3071446" cy="0"/>
            </a:xfrm>
            <a:prstGeom prst="straightConnector1">
              <a:avLst/>
            </a:prstGeom>
            <a:noFill/>
            <a:ln w="44450" cap="rnd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311" name="Google Shape;311;p14"/>
            <p:cNvCxnSpPr/>
            <p:nvPr/>
          </p:nvCxnSpPr>
          <p:spPr>
            <a:xfrm>
              <a:off x="2719754" y="5001717"/>
              <a:ext cx="3071446" cy="0"/>
            </a:xfrm>
            <a:prstGeom prst="straightConnector1">
              <a:avLst/>
            </a:prstGeom>
            <a:noFill/>
            <a:ln w="44450" cap="rnd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312" name="Google Shape;312;p14"/>
            <p:cNvCxnSpPr/>
            <p:nvPr/>
          </p:nvCxnSpPr>
          <p:spPr>
            <a:xfrm>
              <a:off x="2719754" y="5318241"/>
              <a:ext cx="3071446" cy="0"/>
            </a:xfrm>
            <a:prstGeom prst="straightConnector1">
              <a:avLst/>
            </a:prstGeom>
            <a:noFill/>
            <a:ln w="44450" cap="rnd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grpSp>
        <p:nvGrpSpPr>
          <p:cNvPr id="313" name="Google Shape;313;p14"/>
          <p:cNvGrpSpPr/>
          <p:nvPr/>
        </p:nvGrpSpPr>
        <p:grpSpPr>
          <a:xfrm>
            <a:off x="2693780" y="5536066"/>
            <a:ext cx="2399325" cy="609600"/>
            <a:chOff x="2719754" y="4708641"/>
            <a:chExt cx="3071446" cy="609600"/>
          </a:xfrm>
        </p:grpSpPr>
        <p:cxnSp>
          <p:nvCxnSpPr>
            <p:cNvPr id="314" name="Google Shape;314;p14"/>
            <p:cNvCxnSpPr/>
            <p:nvPr/>
          </p:nvCxnSpPr>
          <p:spPr>
            <a:xfrm>
              <a:off x="2719754" y="4708641"/>
              <a:ext cx="3071446" cy="0"/>
            </a:xfrm>
            <a:prstGeom prst="straightConnector1">
              <a:avLst/>
            </a:prstGeom>
            <a:noFill/>
            <a:ln w="44450" cap="rnd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315" name="Google Shape;315;p14"/>
            <p:cNvCxnSpPr/>
            <p:nvPr/>
          </p:nvCxnSpPr>
          <p:spPr>
            <a:xfrm>
              <a:off x="2719754" y="5001717"/>
              <a:ext cx="3071446" cy="0"/>
            </a:xfrm>
            <a:prstGeom prst="straightConnector1">
              <a:avLst/>
            </a:prstGeom>
            <a:noFill/>
            <a:ln w="44450" cap="rnd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316" name="Google Shape;316;p14"/>
            <p:cNvCxnSpPr/>
            <p:nvPr/>
          </p:nvCxnSpPr>
          <p:spPr>
            <a:xfrm>
              <a:off x="2719754" y="5318241"/>
              <a:ext cx="3071446" cy="0"/>
            </a:xfrm>
            <a:prstGeom prst="straightConnector1">
              <a:avLst/>
            </a:prstGeom>
            <a:noFill/>
            <a:ln w="44450" cap="rnd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pic>
        <p:nvPicPr>
          <p:cNvPr id="317" name="Google Shape;317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4055" y="204904"/>
            <a:ext cx="4487045" cy="9571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66C873E-FD76-67B3-1AF2-F7E23CC630C6}"/>
              </a:ext>
            </a:extLst>
          </p:cNvPr>
          <p:cNvSpPr txBox="1"/>
          <p:nvPr/>
        </p:nvSpPr>
        <p:spPr>
          <a:xfrm>
            <a:off x="290014" y="1308597"/>
            <a:ext cx="51577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Axure prototype demonstrates the user journey from assessment to mentor recommendation and consultation flow.</a:t>
            </a:r>
          </a:p>
        </p:txBody>
      </p:sp>
      <p:sp>
        <p:nvSpPr>
          <p:cNvPr id="3" name="TextBox 2">
            <a:hlinkClick r:id="rId6"/>
            <a:extLst>
              <a:ext uri="{FF2B5EF4-FFF2-40B4-BE49-F238E27FC236}">
                <a16:creationId xmlns:a16="http://schemas.microsoft.com/office/drawing/2014/main" id="{F5A34D3B-4611-9D35-981A-ADF11F2FECD3}"/>
              </a:ext>
            </a:extLst>
          </p:cNvPr>
          <p:cNvSpPr txBox="1"/>
          <p:nvPr/>
        </p:nvSpPr>
        <p:spPr>
          <a:xfrm>
            <a:off x="4099462" y="2412004"/>
            <a:ext cx="10118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>
                <a:hlinkClick r:id="rId6"/>
              </a:rPr>
              <a:t>Click Here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>
          <a:extLst>
            <a:ext uri="{FF2B5EF4-FFF2-40B4-BE49-F238E27FC236}">
              <a16:creationId xmlns:a16="http://schemas.microsoft.com/office/drawing/2014/main" id="{9BFE811C-07C5-4874-3E39-07E1E4EEC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6C944F-7543-D186-9200-FFA1F6ACB3FC}"/>
              </a:ext>
            </a:extLst>
          </p:cNvPr>
          <p:cNvSpPr/>
          <p:nvPr/>
        </p:nvSpPr>
        <p:spPr>
          <a:xfrm>
            <a:off x="5791692" y="574766"/>
            <a:ext cx="5982296" cy="606319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6" name="Google Shape;306;p14">
            <a:extLst>
              <a:ext uri="{FF2B5EF4-FFF2-40B4-BE49-F238E27FC236}">
                <a16:creationId xmlns:a16="http://schemas.microsoft.com/office/drawing/2014/main" id="{792DC6E6-F8BB-CCBD-AEC1-BBD9BA0D4E9E}"/>
              </a:ext>
            </a:extLst>
          </p:cNvPr>
          <p:cNvSpPr/>
          <p:nvPr/>
        </p:nvSpPr>
        <p:spPr>
          <a:xfrm>
            <a:off x="-1954428" y="1222231"/>
            <a:ext cx="6564685" cy="6317171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4">
            <a:extLst>
              <a:ext uri="{FF2B5EF4-FFF2-40B4-BE49-F238E27FC236}">
                <a16:creationId xmlns:a16="http://schemas.microsoft.com/office/drawing/2014/main" id="{9AE33E31-D554-67C7-2A3C-ED2045612792}"/>
              </a:ext>
            </a:extLst>
          </p:cNvPr>
          <p:cNvSpPr/>
          <p:nvPr/>
        </p:nvSpPr>
        <p:spPr>
          <a:xfrm>
            <a:off x="-993043" y="1294271"/>
            <a:ext cx="6388604" cy="5641051"/>
          </a:xfrm>
          <a:prstGeom prst="ellipse">
            <a:avLst/>
          </a:prstGeom>
          <a:noFill/>
          <a:ln w="38100" cap="flat" cmpd="sng">
            <a:solidFill>
              <a:srgbClr val="0C0C0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>
            <a:extLst>
              <a:ext uri="{FF2B5EF4-FFF2-40B4-BE49-F238E27FC236}">
                <a16:creationId xmlns:a16="http://schemas.microsoft.com/office/drawing/2014/main" id="{F9A0ACF8-4BB6-B11A-AF54-42B46DFF5286}"/>
              </a:ext>
            </a:extLst>
          </p:cNvPr>
          <p:cNvSpPr txBox="1"/>
          <p:nvPr/>
        </p:nvSpPr>
        <p:spPr>
          <a:xfrm>
            <a:off x="939235" y="3103563"/>
            <a:ext cx="2920179" cy="255450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3600"/>
            </a:pPr>
            <a:r>
              <a:rPr lang="en-US" sz="4000" b="1" dirty="0" err="1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Streamlit</a:t>
            </a:r>
            <a:r>
              <a:rPr lang="en-US" sz="4000" b="1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Dashboard &amp; GitHub Evidence</a:t>
            </a:r>
            <a:endParaRPr sz="4000" b="1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9" name="Google Shape;309;p14">
            <a:extLst>
              <a:ext uri="{FF2B5EF4-FFF2-40B4-BE49-F238E27FC236}">
                <a16:creationId xmlns:a16="http://schemas.microsoft.com/office/drawing/2014/main" id="{D988A5BA-A7BF-7B24-91E1-B7467DA6538B}"/>
              </a:ext>
            </a:extLst>
          </p:cNvPr>
          <p:cNvGrpSpPr/>
          <p:nvPr/>
        </p:nvGrpSpPr>
        <p:grpSpPr>
          <a:xfrm>
            <a:off x="418012" y="2153143"/>
            <a:ext cx="2399325" cy="609600"/>
            <a:chOff x="2719754" y="4708641"/>
            <a:chExt cx="3071446" cy="609600"/>
          </a:xfrm>
        </p:grpSpPr>
        <p:cxnSp>
          <p:nvCxnSpPr>
            <p:cNvPr id="310" name="Google Shape;310;p14">
              <a:extLst>
                <a:ext uri="{FF2B5EF4-FFF2-40B4-BE49-F238E27FC236}">
                  <a16:creationId xmlns:a16="http://schemas.microsoft.com/office/drawing/2014/main" id="{3C4FEB60-043A-383F-0FBA-B4C970E84E87}"/>
                </a:ext>
              </a:extLst>
            </p:cNvPr>
            <p:cNvCxnSpPr/>
            <p:nvPr/>
          </p:nvCxnSpPr>
          <p:spPr>
            <a:xfrm>
              <a:off x="2719754" y="4708641"/>
              <a:ext cx="3071446" cy="0"/>
            </a:xfrm>
            <a:prstGeom prst="straightConnector1">
              <a:avLst/>
            </a:prstGeom>
            <a:noFill/>
            <a:ln w="44450" cap="rnd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311" name="Google Shape;311;p14">
              <a:extLst>
                <a:ext uri="{FF2B5EF4-FFF2-40B4-BE49-F238E27FC236}">
                  <a16:creationId xmlns:a16="http://schemas.microsoft.com/office/drawing/2014/main" id="{97F30028-044A-FCB3-C43B-59C2D8C4B6D3}"/>
                </a:ext>
              </a:extLst>
            </p:cNvPr>
            <p:cNvCxnSpPr/>
            <p:nvPr/>
          </p:nvCxnSpPr>
          <p:spPr>
            <a:xfrm>
              <a:off x="2719754" y="5001717"/>
              <a:ext cx="3071446" cy="0"/>
            </a:xfrm>
            <a:prstGeom prst="straightConnector1">
              <a:avLst/>
            </a:prstGeom>
            <a:noFill/>
            <a:ln w="44450" cap="rnd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312" name="Google Shape;312;p14">
              <a:extLst>
                <a:ext uri="{FF2B5EF4-FFF2-40B4-BE49-F238E27FC236}">
                  <a16:creationId xmlns:a16="http://schemas.microsoft.com/office/drawing/2014/main" id="{487F0B0D-ACFA-DC70-EE07-92DF5628887D}"/>
                </a:ext>
              </a:extLst>
            </p:cNvPr>
            <p:cNvCxnSpPr/>
            <p:nvPr/>
          </p:nvCxnSpPr>
          <p:spPr>
            <a:xfrm>
              <a:off x="2719754" y="5318241"/>
              <a:ext cx="3071446" cy="0"/>
            </a:xfrm>
            <a:prstGeom prst="straightConnector1">
              <a:avLst/>
            </a:prstGeom>
            <a:noFill/>
            <a:ln w="44450" cap="rnd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A54B6D9-F2FD-B69E-2136-860CF7BEE88A}"/>
              </a:ext>
            </a:extLst>
          </p:cNvPr>
          <p:cNvSpPr txBox="1"/>
          <p:nvPr/>
        </p:nvSpPr>
        <p:spPr>
          <a:xfrm>
            <a:off x="6356946" y="905232"/>
            <a:ext cx="4501553" cy="606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GitHub Repository Includes</a:t>
            </a:r>
            <a:endParaRPr lang="en-US" sz="2200" dirty="0"/>
          </a:p>
          <a:p>
            <a:r>
              <a:rPr lang="en-US" sz="2200" dirty="0"/>
              <a:t>Vietnam-context synthetic dataset </a:t>
            </a:r>
          </a:p>
          <a:p>
            <a:r>
              <a:rPr lang="en-US" sz="2200" dirty="0"/>
              <a:t>Python preprocessing script </a:t>
            </a:r>
          </a:p>
          <a:p>
            <a:r>
              <a:rPr lang="en-US" sz="2200" dirty="0"/>
              <a:t>K-Means clustering script </a:t>
            </a:r>
          </a:p>
          <a:p>
            <a:r>
              <a:rPr lang="en-US" sz="2200" dirty="0"/>
              <a:t>Recommendation summary script </a:t>
            </a:r>
          </a:p>
          <a:p>
            <a:r>
              <a:rPr lang="en-US" sz="2200" dirty="0"/>
              <a:t>Mentor database </a:t>
            </a:r>
          </a:p>
          <a:p>
            <a:r>
              <a:rPr lang="en-US" sz="2200" dirty="0" err="1"/>
              <a:t>Streamlit</a:t>
            </a:r>
            <a:r>
              <a:rPr lang="en-US" sz="2200" dirty="0"/>
              <a:t> dashboard code </a:t>
            </a:r>
            <a:endParaRPr lang="vi-VN" sz="2200" dirty="0"/>
          </a:p>
          <a:p>
            <a:r>
              <a:rPr lang="vi-VN" sz="2200" dirty="0">
                <a:hlinkClick r:id="rId4"/>
              </a:rPr>
              <a:t>Click Here </a:t>
            </a:r>
            <a:endParaRPr lang="vi-VN" sz="2200" dirty="0"/>
          </a:p>
          <a:p>
            <a:endParaRPr lang="en-US" sz="2200" dirty="0"/>
          </a:p>
          <a:p>
            <a:r>
              <a:rPr lang="en-US" sz="2200" b="1" dirty="0"/>
              <a:t>Dashboard Demonstrates</a:t>
            </a:r>
            <a:endParaRPr lang="en-US" sz="2200" dirty="0"/>
          </a:p>
          <a:p>
            <a:r>
              <a:rPr lang="en-US" sz="2200" dirty="0"/>
              <a:t>Student cluster distribution </a:t>
            </a:r>
          </a:p>
          <a:p>
            <a:r>
              <a:rPr lang="en-US" sz="2200" dirty="0"/>
              <a:t>Recommended major distribution </a:t>
            </a:r>
          </a:p>
          <a:p>
            <a:r>
              <a:rPr lang="en-US" sz="2200" dirty="0"/>
              <a:t>Student profile filtering </a:t>
            </a:r>
          </a:p>
          <a:p>
            <a:r>
              <a:rPr lang="en-US" sz="2200" dirty="0"/>
              <a:t>Student-to-mentor matching </a:t>
            </a:r>
          </a:p>
          <a:p>
            <a:r>
              <a:rPr lang="en-US" sz="2200" dirty="0"/>
              <a:t>Mentor-to-student grouping</a:t>
            </a:r>
            <a:endParaRPr lang="vi-VN" sz="2200" dirty="0"/>
          </a:p>
          <a:p>
            <a:r>
              <a:rPr lang="vi-VN" sz="2200" dirty="0">
                <a:hlinkClick r:id="rId3"/>
              </a:rPr>
              <a:t>Click Here </a:t>
            </a:r>
            <a:endParaRPr lang="vi-VN" sz="2200" dirty="0"/>
          </a:p>
          <a:p>
            <a:endParaRPr lang="en-US" sz="2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3602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>
          <a:extLst>
            <a:ext uri="{FF2B5EF4-FFF2-40B4-BE49-F238E27FC236}">
              <a16:creationId xmlns:a16="http://schemas.microsoft.com/office/drawing/2014/main" id="{78A27097-76EE-6045-0286-E464C87C7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C75DA3-8176-F8D4-BB19-264E009CF6CF}"/>
              </a:ext>
            </a:extLst>
          </p:cNvPr>
          <p:cNvSpPr/>
          <p:nvPr/>
        </p:nvSpPr>
        <p:spPr>
          <a:xfrm>
            <a:off x="5791692" y="464783"/>
            <a:ext cx="6118628" cy="59284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6" name="Google Shape;306;p14">
            <a:extLst>
              <a:ext uri="{FF2B5EF4-FFF2-40B4-BE49-F238E27FC236}">
                <a16:creationId xmlns:a16="http://schemas.microsoft.com/office/drawing/2014/main" id="{C9F0BBF8-09CA-454E-D827-88934E8FB95F}"/>
              </a:ext>
            </a:extLst>
          </p:cNvPr>
          <p:cNvSpPr/>
          <p:nvPr/>
        </p:nvSpPr>
        <p:spPr>
          <a:xfrm>
            <a:off x="-1954428" y="1222231"/>
            <a:ext cx="6564685" cy="6317171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4">
            <a:extLst>
              <a:ext uri="{FF2B5EF4-FFF2-40B4-BE49-F238E27FC236}">
                <a16:creationId xmlns:a16="http://schemas.microsoft.com/office/drawing/2014/main" id="{3A212D48-946C-9970-DFD7-3C2E6F98B140}"/>
              </a:ext>
            </a:extLst>
          </p:cNvPr>
          <p:cNvSpPr/>
          <p:nvPr/>
        </p:nvSpPr>
        <p:spPr>
          <a:xfrm>
            <a:off x="-993043" y="1294271"/>
            <a:ext cx="6388604" cy="5641051"/>
          </a:xfrm>
          <a:prstGeom prst="ellipse">
            <a:avLst/>
          </a:prstGeom>
          <a:noFill/>
          <a:ln w="38100" cap="flat" cmpd="sng">
            <a:solidFill>
              <a:srgbClr val="0C0C0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>
            <a:extLst>
              <a:ext uri="{FF2B5EF4-FFF2-40B4-BE49-F238E27FC236}">
                <a16:creationId xmlns:a16="http://schemas.microsoft.com/office/drawing/2014/main" id="{F733CF9C-A844-D2CA-3535-09C7B3A3D45A}"/>
              </a:ext>
            </a:extLst>
          </p:cNvPr>
          <p:cNvSpPr txBox="1"/>
          <p:nvPr/>
        </p:nvSpPr>
        <p:spPr>
          <a:xfrm>
            <a:off x="281680" y="3269957"/>
            <a:ext cx="3671022" cy="19389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3600"/>
            </a:pPr>
            <a:r>
              <a:rPr lang="en-US" sz="4000" b="1" dirty="0"/>
              <a:t>Limitations &amp; Future Improvements</a:t>
            </a:r>
            <a:endParaRPr sz="4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9" name="Google Shape;309;p14">
            <a:extLst>
              <a:ext uri="{FF2B5EF4-FFF2-40B4-BE49-F238E27FC236}">
                <a16:creationId xmlns:a16="http://schemas.microsoft.com/office/drawing/2014/main" id="{C986C965-E536-B6C9-8AAB-26713BC9AEFC}"/>
              </a:ext>
            </a:extLst>
          </p:cNvPr>
          <p:cNvGrpSpPr/>
          <p:nvPr/>
        </p:nvGrpSpPr>
        <p:grpSpPr>
          <a:xfrm>
            <a:off x="418012" y="2153143"/>
            <a:ext cx="2399325" cy="609600"/>
            <a:chOff x="2719754" y="4708641"/>
            <a:chExt cx="3071446" cy="609600"/>
          </a:xfrm>
        </p:grpSpPr>
        <p:cxnSp>
          <p:nvCxnSpPr>
            <p:cNvPr id="310" name="Google Shape;310;p14">
              <a:extLst>
                <a:ext uri="{FF2B5EF4-FFF2-40B4-BE49-F238E27FC236}">
                  <a16:creationId xmlns:a16="http://schemas.microsoft.com/office/drawing/2014/main" id="{E1DB0514-0E79-2B17-4519-54B0416619A7}"/>
                </a:ext>
              </a:extLst>
            </p:cNvPr>
            <p:cNvCxnSpPr/>
            <p:nvPr/>
          </p:nvCxnSpPr>
          <p:spPr>
            <a:xfrm>
              <a:off x="2719754" y="4708641"/>
              <a:ext cx="3071446" cy="0"/>
            </a:xfrm>
            <a:prstGeom prst="straightConnector1">
              <a:avLst/>
            </a:prstGeom>
            <a:noFill/>
            <a:ln w="44450" cap="rnd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311" name="Google Shape;311;p14">
              <a:extLst>
                <a:ext uri="{FF2B5EF4-FFF2-40B4-BE49-F238E27FC236}">
                  <a16:creationId xmlns:a16="http://schemas.microsoft.com/office/drawing/2014/main" id="{CB3901F7-CCD9-CBE0-A7B5-D8CABEE6FADC}"/>
                </a:ext>
              </a:extLst>
            </p:cNvPr>
            <p:cNvCxnSpPr/>
            <p:nvPr/>
          </p:nvCxnSpPr>
          <p:spPr>
            <a:xfrm>
              <a:off x="2719754" y="5001717"/>
              <a:ext cx="3071446" cy="0"/>
            </a:xfrm>
            <a:prstGeom prst="straightConnector1">
              <a:avLst/>
            </a:prstGeom>
            <a:noFill/>
            <a:ln w="44450" cap="rnd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312" name="Google Shape;312;p14">
              <a:extLst>
                <a:ext uri="{FF2B5EF4-FFF2-40B4-BE49-F238E27FC236}">
                  <a16:creationId xmlns:a16="http://schemas.microsoft.com/office/drawing/2014/main" id="{58C392ED-0640-E5EE-9083-750A993F1BFF}"/>
                </a:ext>
              </a:extLst>
            </p:cNvPr>
            <p:cNvCxnSpPr/>
            <p:nvPr/>
          </p:nvCxnSpPr>
          <p:spPr>
            <a:xfrm>
              <a:off x="2719754" y="5318241"/>
              <a:ext cx="3071446" cy="0"/>
            </a:xfrm>
            <a:prstGeom prst="straightConnector1">
              <a:avLst/>
            </a:prstGeom>
            <a:noFill/>
            <a:ln w="44450" cap="rnd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BA64BD9-B512-3556-AEA4-5C5E19EDD38D}"/>
              </a:ext>
            </a:extLst>
          </p:cNvPr>
          <p:cNvSpPr txBox="1"/>
          <p:nvPr/>
        </p:nvSpPr>
        <p:spPr>
          <a:xfrm>
            <a:off x="6021312" y="774034"/>
            <a:ext cx="5889008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Limitations</a:t>
            </a: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Current dataset is synthetic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K-Means clustering is exploratory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Recommendation logic is rule-based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Axure UI and backend are not fully integrated yet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Real student feedback has not been collected </a:t>
            </a:r>
            <a:endParaRPr lang="vi-VN" sz="2200" dirty="0"/>
          </a:p>
          <a:p>
            <a:endParaRPr lang="en-US" sz="2200" dirty="0"/>
          </a:p>
          <a:p>
            <a:r>
              <a:rPr lang="en-US" sz="2200" b="1" dirty="0"/>
              <a:t>Future Improvements</a:t>
            </a: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Collect real assessment data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Add real-time assessment form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Expand mentor database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Improve recommendation accuracy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Connect UI prototype with backend system</a:t>
            </a:r>
          </a:p>
        </p:txBody>
      </p:sp>
    </p:spTree>
    <p:extLst>
      <p:ext uri="{BB962C8B-B14F-4D97-AF65-F5344CB8AC3E}">
        <p14:creationId xmlns:p14="http://schemas.microsoft.com/office/powerpoint/2010/main" val="3921296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44259" y="686579"/>
            <a:ext cx="7329409" cy="54848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848</Words>
  <Application>Microsoft Office PowerPoint</Application>
  <PresentationFormat>Widescreen</PresentationFormat>
  <Paragraphs>214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LAPTOP123</dc:creator>
  <cp:lastModifiedBy>Tran Lam</cp:lastModifiedBy>
  <cp:revision>4</cp:revision>
  <dcterms:created xsi:type="dcterms:W3CDTF">2021-12-04T18:52:13Z</dcterms:created>
  <dcterms:modified xsi:type="dcterms:W3CDTF">2026-05-29T11:36:16Z</dcterms:modified>
</cp:coreProperties>
</file>